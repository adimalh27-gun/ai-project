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9566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8778240" y="548640"/>
            <a:ext cx="45720" cy="45720"/>
          </a:xfrm>
          <a:prstGeom prst="ellipse">
            <a:avLst/>
          </a:prstGeom>
          <a:solidFill>
            <a:srgbClr val="2A4576"/>
          </a:solidFill>
          <a:ln/>
        </p:spPr>
      </p:sp>
      <p:sp>
        <p:nvSpPr>
          <p:cNvPr id="3" name="Shape 1"/>
          <p:cNvSpPr/>
          <p:nvPr/>
        </p:nvSpPr>
        <p:spPr>
          <a:xfrm>
            <a:off x="9034272" y="548640"/>
            <a:ext cx="45720" cy="45720"/>
          </a:xfrm>
          <a:prstGeom prst="ellipse">
            <a:avLst/>
          </a:prstGeom>
          <a:solidFill>
            <a:srgbClr val="2A4576"/>
          </a:solidFill>
          <a:ln/>
        </p:spPr>
      </p:sp>
      <p:sp>
        <p:nvSpPr>
          <p:cNvPr id="4" name="Shape 2"/>
          <p:cNvSpPr/>
          <p:nvPr/>
        </p:nvSpPr>
        <p:spPr>
          <a:xfrm>
            <a:off x="9290304" y="548640"/>
            <a:ext cx="45720" cy="45720"/>
          </a:xfrm>
          <a:prstGeom prst="ellipse">
            <a:avLst/>
          </a:prstGeom>
          <a:solidFill>
            <a:srgbClr val="2A4576"/>
          </a:solidFill>
          <a:ln/>
        </p:spPr>
      </p:sp>
      <p:sp>
        <p:nvSpPr>
          <p:cNvPr id="5" name="Shape 3"/>
          <p:cNvSpPr/>
          <p:nvPr/>
        </p:nvSpPr>
        <p:spPr>
          <a:xfrm>
            <a:off x="9546336" y="548640"/>
            <a:ext cx="45720" cy="45720"/>
          </a:xfrm>
          <a:prstGeom prst="ellipse">
            <a:avLst/>
          </a:prstGeom>
          <a:solidFill>
            <a:srgbClr val="2A4576"/>
          </a:solidFill>
          <a:ln/>
        </p:spPr>
      </p:sp>
      <p:sp>
        <p:nvSpPr>
          <p:cNvPr id="6" name="Shape 4"/>
          <p:cNvSpPr/>
          <p:nvPr/>
        </p:nvSpPr>
        <p:spPr>
          <a:xfrm>
            <a:off x="9802368" y="548640"/>
            <a:ext cx="45720" cy="45720"/>
          </a:xfrm>
          <a:prstGeom prst="ellipse">
            <a:avLst/>
          </a:prstGeom>
          <a:solidFill>
            <a:srgbClr val="2A4576"/>
          </a:solidFill>
          <a:ln/>
        </p:spPr>
      </p:sp>
      <p:sp>
        <p:nvSpPr>
          <p:cNvPr id="7" name="Shape 5"/>
          <p:cNvSpPr/>
          <p:nvPr/>
        </p:nvSpPr>
        <p:spPr>
          <a:xfrm>
            <a:off x="10058400" y="548640"/>
            <a:ext cx="45720" cy="45720"/>
          </a:xfrm>
          <a:prstGeom prst="ellipse">
            <a:avLst/>
          </a:prstGeom>
          <a:solidFill>
            <a:srgbClr val="2A4576"/>
          </a:solidFill>
          <a:ln/>
        </p:spPr>
      </p:sp>
      <p:sp>
        <p:nvSpPr>
          <p:cNvPr id="8" name="Shape 6"/>
          <p:cNvSpPr/>
          <p:nvPr/>
        </p:nvSpPr>
        <p:spPr>
          <a:xfrm>
            <a:off x="10314432" y="548640"/>
            <a:ext cx="45720" cy="45720"/>
          </a:xfrm>
          <a:prstGeom prst="ellipse">
            <a:avLst/>
          </a:prstGeom>
          <a:solidFill>
            <a:srgbClr val="2A4576"/>
          </a:solidFill>
          <a:ln/>
        </p:spPr>
      </p:sp>
      <p:sp>
        <p:nvSpPr>
          <p:cNvPr id="9" name="Shape 7"/>
          <p:cNvSpPr/>
          <p:nvPr/>
        </p:nvSpPr>
        <p:spPr>
          <a:xfrm>
            <a:off x="8778240" y="804672"/>
            <a:ext cx="45720" cy="45720"/>
          </a:xfrm>
          <a:prstGeom prst="ellipse">
            <a:avLst/>
          </a:prstGeom>
          <a:solidFill>
            <a:srgbClr val="2A4576"/>
          </a:solidFill>
          <a:ln/>
        </p:spPr>
      </p:sp>
      <p:sp>
        <p:nvSpPr>
          <p:cNvPr id="10" name="Shape 8"/>
          <p:cNvSpPr/>
          <p:nvPr/>
        </p:nvSpPr>
        <p:spPr>
          <a:xfrm>
            <a:off x="9034272" y="804672"/>
            <a:ext cx="45720" cy="45720"/>
          </a:xfrm>
          <a:prstGeom prst="ellipse">
            <a:avLst/>
          </a:prstGeom>
          <a:solidFill>
            <a:srgbClr val="2A4576"/>
          </a:solidFill>
          <a:ln/>
        </p:spPr>
      </p:sp>
      <p:sp>
        <p:nvSpPr>
          <p:cNvPr id="11" name="Shape 9"/>
          <p:cNvSpPr/>
          <p:nvPr/>
        </p:nvSpPr>
        <p:spPr>
          <a:xfrm>
            <a:off x="9290304" y="804672"/>
            <a:ext cx="45720" cy="45720"/>
          </a:xfrm>
          <a:prstGeom prst="ellipse">
            <a:avLst/>
          </a:prstGeom>
          <a:solidFill>
            <a:srgbClr val="2A4576"/>
          </a:solidFill>
          <a:ln/>
        </p:spPr>
      </p:sp>
      <p:sp>
        <p:nvSpPr>
          <p:cNvPr id="12" name="Shape 10"/>
          <p:cNvSpPr/>
          <p:nvPr/>
        </p:nvSpPr>
        <p:spPr>
          <a:xfrm>
            <a:off x="9546336" y="804672"/>
            <a:ext cx="45720" cy="45720"/>
          </a:xfrm>
          <a:prstGeom prst="ellipse">
            <a:avLst/>
          </a:prstGeom>
          <a:solidFill>
            <a:srgbClr val="2A4576"/>
          </a:solidFill>
          <a:ln/>
        </p:spPr>
      </p:sp>
      <p:sp>
        <p:nvSpPr>
          <p:cNvPr id="13" name="Shape 11"/>
          <p:cNvSpPr/>
          <p:nvPr/>
        </p:nvSpPr>
        <p:spPr>
          <a:xfrm>
            <a:off x="9802368" y="804672"/>
            <a:ext cx="45720" cy="45720"/>
          </a:xfrm>
          <a:prstGeom prst="ellipse">
            <a:avLst/>
          </a:prstGeom>
          <a:solidFill>
            <a:srgbClr val="2A4576"/>
          </a:solidFill>
          <a:ln/>
        </p:spPr>
      </p:sp>
      <p:sp>
        <p:nvSpPr>
          <p:cNvPr id="14" name="Shape 12"/>
          <p:cNvSpPr/>
          <p:nvPr/>
        </p:nvSpPr>
        <p:spPr>
          <a:xfrm>
            <a:off x="10058400" y="804672"/>
            <a:ext cx="45720" cy="45720"/>
          </a:xfrm>
          <a:prstGeom prst="ellipse">
            <a:avLst/>
          </a:prstGeom>
          <a:solidFill>
            <a:srgbClr val="2A4576"/>
          </a:solidFill>
          <a:ln/>
        </p:spPr>
      </p:sp>
      <p:sp>
        <p:nvSpPr>
          <p:cNvPr id="15" name="Shape 13"/>
          <p:cNvSpPr/>
          <p:nvPr/>
        </p:nvSpPr>
        <p:spPr>
          <a:xfrm>
            <a:off x="10314432" y="804672"/>
            <a:ext cx="45720" cy="45720"/>
          </a:xfrm>
          <a:prstGeom prst="ellipse">
            <a:avLst/>
          </a:prstGeom>
          <a:solidFill>
            <a:srgbClr val="2A4576"/>
          </a:solidFill>
          <a:ln/>
        </p:spPr>
      </p:sp>
      <p:sp>
        <p:nvSpPr>
          <p:cNvPr id="16" name="Shape 14"/>
          <p:cNvSpPr/>
          <p:nvPr/>
        </p:nvSpPr>
        <p:spPr>
          <a:xfrm>
            <a:off x="8778240" y="1060704"/>
            <a:ext cx="45720" cy="45720"/>
          </a:xfrm>
          <a:prstGeom prst="ellipse">
            <a:avLst/>
          </a:prstGeom>
          <a:solidFill>
            <a:srgbClr val="2A4576"/>
          </a:solidFill>
          <a:ln/>
        </p:spPr>
      </p:sp>
      <p:sp>
        <p:nvSpPr>
          <p:cNvPr id="17" name="Shape 15"/>
          <p:cNvSpPr/>
          <p:nvPr/>
        </p:nvSpPr>
        <p:spPr>
          <a:xfrm>
            <a:off x="9034272" y="1060704"/>
            <a:ext cx="45720" cy="45720"/>
          </a:xfrm>
          <a:prstGeom prst="ellipse">
            <a:avLst/>
          </a:prstGeom>
          <a:solidFill>
            <a:srgbClr val="2A4576"/>
          </a:solidFill>
          <a:ln/>
        </p:spPr>
      </p:sp>
      <p:sp>
        <p:nvSpPr>
          <p:cNvPr id="18" name="Shape 16"/>
          <p:cNvSpPr/>
          <p:nvPr/>
        </p:nvSpPr>
        <p:spPr>
          <a:xfrm>
            <a:off x="9290304" y="1060704"/>
            <a:ext cx="45720" cy="45720"/>
          </a:xfrm>
          <a:prstGeom prst="ellipse">
            <a:avLst/>
          </a:prstGeom>
          <a:solidFill>
            <a:srgbClr val="2A4576"/>
          </a:solidFill>
          <a:ln/>
        </p:spPr>
      </p:sp>
      <p:sp>
        <p:nvSpPr>
          <p:cNvPr id="19" name="Shape 17"/>
          <p:cNvSpPr/>
          <p:nvPr/>
        </p:nvSpPr>
        <p:spPr>
          <a:xfrm>
            <a:off x="9546336" y="1060704"/>
            <a:ext cx="45720" cy="45720"/>
          </a:xfrm>
          <a:prstGeom prst="ellipse">
            <a:avLst/>
          </a:prstGeom>
          <a:solidFill>
            <a:srgbClr val="2A4576"/>
          </a:solidFill>
          <a:ln/>
        </p:spPr>
      </p:sp>
      <p:sp>
        <p:nvSpPr>
          <p:cNvPr id="20" name="Shape 18"/>
          <p:cNvSpPr/>
          <p:nvPr/>
        </p:nvSpPr>
        <p:spPr>
          <a:xfrm>
            <a:off x="9802368" y="1060704"/>
            <a:ext cx="45720" cy="45720"/>
          </a:xfrm>
          <a:prstGeom prst="ellipse">
            <a:avLst/>
          </a:prstGeom>
          <a:solidFill>
            <a:srgbClr val="2A4576"/>
          </a:solidFill>
          <a:ln/>
        </p:spPr>
      </p:sp>
      <p:sp>
        <p:nvSpPr>
          <p:cNvPr id="21" name="Shape 19"/>
          <p:cNvSpPr/>
          <p:nvPr/>
        </p:nvSpPr>
        <p:spPr>
          <a:xfrm>
            <a:off x="10058400" y="1060704"/>
            <a:ext cx="45720" cy="45720"/>
          </a:xfrm>
          <a:prstGeom prst="ellipse">
            <a:avLst/>
          </a:prstGeom>
          <a:solidFill>
            <a:srgbClr val="2A4576"/>
          </a:solidFill>
          <a:ln/>
        </p:spPr>
      </p:sp>
      <p:sp>
        <p:nvSpPr>
          <p:cNvPr id="22" name="Shape 20"/>
          <p:cNvSpPr/>
          <p:nvPr/>
        </p:nvSpPr>
        <p:spPr>
          <a:xfrm>
            <a:off x="10314432" y="1060704"/>
            <a:ext cx="45720" cy="45720"/>
          </a:xfrm>
          <a:prstGeom prst="ellipse">
            <a:avLst/>
          </a:prstGeom>
          <a:solidFill>
            <a:srgbClr val="2A4576"/>
          </a:solidFill>
          <a:ln/>
        </p:spPr>
      </p:sp>
      <p:sp>
        <p:nvSpPr>
          <p:cNvPr id="23" name="Shape 21"/>
          <p:cNvSpPr/>
          <p:nvPr/>
        </p:nvSpPr>
        <p:spPr>
          <a:xfrm>
            <a:off x="8778240" y="1316736"/>
            <a:ext cx="45720" cy="45720"/>
          </a:xfrm>
          <a:prstGeom prst="ellipse">
            <a:avLst/>
          </a:prstGeom>
          <a:solidFill>
            <a:srgbClr val="2A4576"/>
          </a:solidFill>
          <a:ln/>
        </p:spPr>
      </p:sp>
      <p:sp>
        <p:nvSpPr>
          <p:cNvPr id="24" name="Shape 22"/>
          <p:cNvSpPr/>
          <p:nvPr/>
        </p:nvSpPr>
        <p:spPr>
          <a:xfrm>
            <a:off x="9034272" y="1316736"/>
            <a:ext cx="45720" cy="45720"/>
          </a:xfrm>
          <a:prstGeom prst="ellipse">
            <a:avLst/>
          </a:prstGeom>
          <a:solidFill>
            <a:srgbClr val="2A4576"/>
          </a:solidFill>
          <a:ln/>
        </p:spPr>
      </p:sp>
      <p:sp>
        <p:nvSpPr>
          <p:cNvPr id="25" name="Shape 23"/>
          <p:cNvSpPr/>
          <p:nvPr/>
        </p:nvSpPr>
        <p:spPr>
          <a:xfrm>
            <a:off x="9290304" y="1316736"/>
            <a:ext cx="45720" cy="45720"/>
          </a:xfrm>
          <a:prstGeom prst="ellipse">
            <a:avLst/>
          </a:prstGeom>
          <a:solidFill>
            <a:srgbClr val="2A4576"/>
          </a:solidFill>
          <a:ln/>
        </p:spPr>
      </p:sp>
      <p:sp>
        <p:nvSpPr>
          <p:cNvPr id="26" name="Shape 24"/>
          <p:cNvSpPr/>
          <p:nvPr/>
        </p:nvSpPr>
        <p:spPr>
          <a:xfrm>
            <a:off x="9546336" y="1316736"/>
            <a:ext cx="45720" cy="45720"/>
          </a:xfrm>
          <a:prstGeom prst="ellipse">
            <a:avLst/>
          </a:prstGeom>
          <a:solidFill>
            <a:srgbClr val="2A4576"/>
          </a:solidFill>
          <a:ln/>
        </p:spPr>
      </p:sp>
      <p:sp>
        <p:nvSpPr>
          <p:cNvPr id="27" name="Shape 25"/>
          <p:cNvSpPr/>
          <p:nvPr/>
        </p:nvSpPr>
        <p:spPr>
          <a:xfrm>
            <a:off x="9802368" y="1316736"/>
            <a:ext cx="45720" cy="45720"/>
          </a:xfrm>
          <a:prstGeom prst="ellipse">
            <a:avLst/>
          </a:prstGeom>
          <a:solidFill>
            <a:srgbClr val="2A4576"/>
          </a:solidFill>
          <a:ln/>
        </p:spPr>
      </p:sp>
      <p:sp>
        <p:nvSpPr>
          <p:cNvPr id="28" name="Shape 26"/>
          <p:cNvSpPr/>
          <p:nvPr/>
        </p:nvSpPr>
        <p:spPr>
          <a:xfrm>
            <a:off x="10058400" y="1316736"/>
            <a:ext cx="45720" cy="45720"/>
          </a:xfrm>
          <a:prstGeom prst="ellipse">
            <a:avLst/>
          </a:prstGeom>
          <a:solidFill>
            <a:srgbClr val="2A4576"/>
          </a:solidFill>
          <a:ln/>
        </p:spPr>
      </p:sp>
      <p:sp>
        <p:nvSpPr>
          <p:cNvPr id="29" name="Shape 27"/>
          <p:cNvSpPr/>
          <p:nvPr/>
        </p:nvSpPr>
        <p:spPr>
          <a:xfrm>
            <a:off x="10314432" y="1316736"/>
            <a:ext cx="45720" cy="45720"/>
          </a:xfrm>
          <a:prstGeom prst="ellipse">
            <a:avLst/>
          </a:prstGeom>
          <a:solidFill>
            <a:srgbClr val="2A4576"/>
          </a:solidFill>
          <a:ln/>
        </p:spPr>
      </p:sp>
      <p:sp>
        <p:nvSpPr>
          <p:cNvPr id="30" name="Shape 28"/>
          <p:cNvSpPr/>
          <p:nvPr/>
        </p:nvSpPr>
        <p:spPr>
          <a:xfrm>
            <a:off x="8778240" y="1572768"/>
            <a:ext cx="45720" cy="45720"/>
          </a:xfrm>
          <a:prstGeom prst="ellipse">
            <a:avLst/>
          </a:prstGeom>
          <a:solidFill>
            <a:srgbClr val="2A4576"/>
          </a:solidFill>
          <a:ln/>
        </p:spPr>
      </p:sp>
      <p:sp>
        <p:nvSpPr>
          <p:cNvPr id="31" name="Shape 29"/>
          <p:cNvSpPr/>
          <p:nvPr/>
        </p:nvSpPr>
        <p:spPr>
          <a:xfrm>
            <a:off x="9034272" y="1572768"/>
            <a:ext cx="45720" cy="45720"/>
          </a:xfrm>
          <a:prstGeom prst="ellipse">
            <a:avLst/>
          </a:prstGeom>
          <a:solidFill>
            <a:srgbClr val="2A4576"/>
          </a:solidFill>
          <a:ln/>
        </p:spPr>
      </p:sp>
      <p:sp>
        <p:nvSpPr>
          <p:cNvPr id="32" name="Shape 30"/>
          <p:cNvSpPr/>
          <p:nvPr/>
        </p:nvSpPr>
        <p:spPr>
          <a:xfrm>
            <a:off x="9290304" y="1572768"/>
            <a:ext cx="45720" cy="45720"/>
          </a:xfrm>
          <a:prstGeom prst="ellipse">
            <a:avLst/>
          </a:prstGeom>
          <a:solidFill>
            <a:srgbClr val="2A4576"/>
          </a:solidFill>
          <a:ln/>
        </p:spPr>
      </p:sp>
      <p:sp>
        <p:nvSpPr>
          <p:cNvPr id="33" name="Shape 31"/>
          <p:cNvSpPr/>
          <p:nvPr/>
        </p:nvSpPr>
        <p:spPr>
          <a:xfrm>
            <a:off x="9546336" y="1572768"/>
            <a:ext cx="45720" cy="45720"/>
          </a:xfrm>
          <a:prstGeom prst="ellipse">
            <a:avLst/>
          </a:prstGeom>
          <a:solidFill>
            <a:srgbClr val="2A4576"/>
          </a:solidFill>
          <a:ln/>
        </p:spPr>
      </p:sp>
      <p:sp>
        <p:nvSpPr>
          <p:cNvPr id="34" name="Shape 32"/>
          <p:cNvSpPr/>
          <p:nvPr/>
        </p:nvSpPr>
        <p:spPr>
          <a:xfrm>
            <a:off x="9802368" y="1572768"/>
            <a:ext cx="45720" cy="45720"/>
          </a:xfrm>
          <a:prstGeom prst="ellipse">
            <a:avLst/>
          </a:prstGeom>
          <a:solidFill>
            <a:srgbClr val="2A4576"/>
          </a:solidFill>
          <a:ln/>
        </p:spPr>
      </p:sp>
      <p:sp>
        <p:nvSpPr>
          <p:cNvPr id="35" name="Shape 33"/>
          <p:cNvSpPr/>
          <p:nvPr/>
        </p:nvSpPr>
        <p:spPr>
          <a:xfrm>
            <a:off x="10058400" y="1572768"/>
            <a:ext cx="45720" cy="45720"/>
          </a:xfrm>
          <a:prstGeom prst="ellipse">
            <a:avLst/>
          </a:prstGeom>
          <a:solidFill>
            <a:srgbClr val="2A4576"/>
          </a:solidFill>
          <a:ln/>
        </p:spPr>
      </p:sp>
      <p:sp>
        <p:nvSpPr>
          <p:cNvPr id="36" name="Shape 34"/>
          <p:cNvSpPr/>
          <p:nvPr/>
        </p:nvSpPr>
        <p:spPr>
          <a:xfrm>
            <a:off x="10314432" y="1572768"/>
            <a:ext cx="45720" cy="45720"/>
          </a:xfrm>
          <a:prstGeom prst="ellipse">
            <a:avLst/>
          </a:prstGeom>
          <a:solidFill>
            <a:srgbClr val="2A4576"/>
          </a:solidFill>
          <a:ln/>
        </p:spPr>
      </p:sp>
      <p:sp>
        <p:nvSpPr>
          <p:cNvPr id="37" name="Shape 35"/>
          <p:cNvSpPr/>
          <p:nvPr/>
        </p:nvSpPr>
        <p:spPr>
          <a:xfrm>
            <a:off x="9692640" y="3291840"/>
            <a:ext cx="2926080" cy="2926080"/>
          </a:xfrm>
          <a:prstGeom prst="ellipse">
            <a:avLst/>
          </a:prstGeom>
          <a:solidFill>
            <a:srgbClr val="14294B"/>
          </a:solidFill>
          <a:ln/>
        </p:spPr>
      </p:sp>
      <p:sp>
        <p:nvSpPr>
          <p:cNvPr id="38" name="Shape 36"/>
          <p:cNvSpPr/>
          <p:nvPr/>
        </p:nvSpPr>
        <p:spPr>
          <a:xfrm>
            <a:off x="10332720" y="3931920"/>
            <a:ext cx="1645920" cy="1645920"/>
          </a:xfrm>
          <a:prstGeom prst="ellipse">
            <a:avLst/>
          </a:prstGeom>
          <a:solidFill>
            <a:srgbClr val="00B8A9"/>
          </a:solidFill>
          <a:ln/>
        </p:spPr>
      </p:sp>
      <p:sp>
        <p:nvSpPr>
          <p:cNvPr id="39" name="Text 37"/>
          <p:cNvSpPr/>
          <p:nvPr/>
        </p:nvSpPr>
        <p:spPr>
          <a:xfrm>
            <a:off x="731520" y="1554480"/>
            <a:ext cx="7315200" cy="320040"/>
          </a:xfrm>
          <a:prstGeom prst="rect">
            <a:avLst/>
          </a:prstGeom>
          <a:noFill/>
          <a:ln/>
        </p:spPr>
        <p:txBody>
          <a:bodyPr wrap="square" lIns="0" tIns="0" rIns="0" bIns="0" rtlCol="0" anchor="ctr"/>
          <a:lstStyle/>
          <a:p>
            <a:pPr marL="0" indent="0">
              <a:buNone/>
            </a:pPr>
            <a:r>
              <a:rPr lang="en-US" sz="1300" b="1" kern="0" spc="300" dirty="0">
                <a:solidFill>
                  <a:srgbClr val="00B8A9"/>
                </a:solidFill>
                <a:latin typeface="Calibri" pitchFamily="34" charset="0"/>
                <a:ea typeface="Calibri" pitchFamily="34" charset="-122"/>
                <a:cs typeface="Calibri" pitchFamily="34" charset="-120"/>
              </a:rPr>
              <a:t>COLLEGE PROJECT SUBMISSION</a:t>
            </a:r>
            <a:endParaRPr lang="en-US" sz="1300" dirty="0"/>
          </a:p>
        </p:txBody>
      </p:sp>
      <p:sp>
        <p:nvSpPr>
          <p:cNvPr id="40" name="Text 38"/>
          <p:cNvSpPr/>
          <p:nvPr/>
        </p:nvSpPr>
        <p:spPr>
          <a:xfrm>
            <a:off x="731520" y="1965960"/>
            <a:ext cx="9601200" cy="13716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AI Job Market Analysis</a:t>
            </a:r>
            <a:endParaRPr lang="en-US" sz="5000" dirty="0"/>
          </a:p>
        </p:txBody>
      </p:sp>
      <p:sp>
        <p:nvSpPr>
          <p:cNvPr id="41" name="Text 39"/>
          <p:cNvSpPr/>
          <p:nvPr/>
        </p:nvSpPr>
        <p:spPr>
          <a:xfrm>
            <a:off x="731520" y="3246120"/>
            <a:ext cx="7863840" cy="822960"/>
          </a:xfrm>
          <a:prstGeom prst="rect">
            <a:avLst/>
          </a:prstGeom>
          <a:noFill/>
          <a:ln/>
        </p:spPr>
        <p:txBody>
          <a:bodyPr wrap="square" lIns="0" tIns="0" rIns="0" bIns="0" rtlCol="0" anchor="ctr"/>
          <a:lstStyle/>
          <a:p>
            <a:pPr marL="0" indent="0">
              <a:lnSpc>
                <a:spcPct val="130000"/>
              </a:lnSpc>
              <a:buNone/>
            </a:pPr>
            <a:r>
              <a:rPr lang="en-US" sz="1500" dirty="0">
                <a:solidFill>
                  <a:srgbClr val="C4D0E6"/>
                </a:solidFill>
                <a:latin typeface="Calibri" pitchFamily="34" charset="0"/>
                <a:ea typeface="Calibri" pitchFamily="34" charset="-122"/>
                <a:cs typeface="Calibri" pitchFamily="34" charset="-120"/>
              </a:rPr>
              <a:t>A data analysis project to explore AI job trends, salaries, skills, and demand using Python and interactive visualizations.</a:t>
            </a:r>
            <a:endParaRPr lang="en-US" sz="1500" dirty="0"/>
          </a:p>
        </p:txBody>
      </p:sp>
      <p:sp>
        <p:nvSpPr>
          <p:cNvPr id="42" name="Shape 40"/>
          <p:cNvSpPr/>
          <p:nvPr/>
        </p:nvSpPr>
        <p:spPr>
          <a:xfrm>
            <a:off x="731520" y="4892040"/>
            <a:ext cx="7863840" cy="18288"/>
          </a:xfrm>
          <a:prstGeom prst="rect">
            <a:avLst/>
          </a:prstGeom>
          <a:solidFill>
            <a:srgbClr val="2A4576"/>
          </a:solidFill>
          <a:ln/>
        </p:spPr>
      </p:sp>
      <p:sp>
        <p:nvSpPr>
          <p:cNvPr id="43" name="Text 41"/>
          <p:cNvSpPr/>
          <p:nvPr/>
        </p:nvSpPr>
        <p:spPr>
          <a:xfrm>
            <a:off x="731520" y="5074920"/>
            <a:ext cx="9144000" cy="365760"/>
          </a:xfrm>
          <a:prstGeom prst="rect">
            <a:avLst/>
          </a:prstGeom>
          <a:noFill/>
          <a:ln/>
        </p:spPr>
        <p:txBody>
          <a:bodyPr wrap="square" lIns="0" tIns="0" rIns="0" bIns="0" rtlCol="0" anchor="ctr"/>
          <a:lstStyle/>
          <a:p>
            <a:r>
              <a:rPr lang="en-US" sz="1300" kern="0" spc="100" dirty="0">
                <a:solidFill>
                  <a:srgbClr val="E8EDF7"/>
                </a:solidFill>
                <a:latin typeface="Calibri" pitchFamily="34" charset="0"/>
                <a:ea typeface="Calibri" pitchFamily="34" charset="-122"/>
                <a:cs typeface="Calibri" pitchFamily="34" charset="-120"/>
              </a:rPr>
              <a:t>BY:- ADITIYA  |  RBIENT HSP  |  2449369  |  CSE AI &amp; ML</a:t>
            </a:r>
            <a:endParaRPr lang="en-US" sz="1300" dirty="0"/>
          </a:p>
        </p:txBody>
      </p:sp>
      <p:sp>
        <p:nvSpPr>
          <p:cNvPr id="44" name="Text 42"/>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8FA3C4"/>
                </a:solidFill>
                <a:latin typeface="Calibri" pitchFamily="34" charset="0"/>
                <a:ea typeface="Calibri" pitchFamily="34" charset="-122"/>
                <a:cs typeface="Calibri" pitchFamily="34" charset="-120"/>
              </a:rPr>
              <a:t>01</a:t>
            </a:r>
            <a:endParaRPr lang="en-US" sz="1000" dirty="0"/>
          </a:p>
        </p:txBody>
      </p:sp>
      <p:sp>
        <p:nvSpPr>
          <p:cNvPr id="45" name="Text 43"/>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5E7196"/>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78F83"/>
                </a:solidFill>
                <a:latin typeface="Calibri" pitchFamily="34" charset="0"/>
                <a:ea typeface="Calibri" pitchFamily="34" charset="-122"/>
                <a:cs typeface="Calibri" pitchFamily="34" charset="-120"/>
              </a:rPr>
              <a:t>02 — OVERVIEW</a:t>
            </a:r>
            <a:endParaRPr lang="en-US" sz="1200" dirty="0"/>
          </a:p>
        </p:txBody>
      </p:sp>
      <p:sp>
        <p:nvSpPr>
          <p:cNvPr id="3" name="Text 1"/>
          <p:cNvSpPr/>
          <p:nvPr/>
        </p:nvSpPr>
        <p:spPr>
          <a:xfrm>
            <a:off x="548640" y="713232"/>
            <a:ext cx="10058400" cy="640080"/>
          </a:xfrm>
          <a:prstGeom prst="rect">
            <a:avLst/>
          </a:prstGeom>
          <a:noFill/>
          <a:ln/>
        </p:spPr>
        <p:txBody>
          <a:bodyPr wrap="square" lIns="0" tIns="0" rIns="0" bIns="0" rtlCol="0" anchor="ctr"/>
          <a:lstStyle/>
          <a:p>
            <a:pPr marL="0" indent="0">
              <a:buNone/>
            </a:pPr>
            <a:r>
              <a:rPr lang="en-US" sz="3000" b="1" dirty="0">
                <a:solidFill>
                  <a:srgbClr val="16213E"/>
                </a:solidFill>
                <a:latin typeface="Cambria" pitchFamily="34" charset="0"/>
                <a:ea typeface="Cambria" pitchFamily="34" charset="-122"/>
                <a:cs typeface="Cambria" pitchFamily="34" charset="-120"/>
              </a:rPr>
              <a:t>Table of Content</a:t>
            </a:r>
            <a:endParaRPr lang="en-US" sz="3000" dirty="0"/>
          </a:p>
        </p:txBody>
      </p:sp>
      <p:sp>
        <p:nvSpPr>
          <p:cNvPr id="4" name="Text 2"/>
          <p:cNvSpPr/>
          <p:nvPr/>
        </p:nvSpPr>
        <p:spPr>
          <a:xfrm>
            <a:off x="548640" y="1417320"/>
            <a:ext cx="10607040" cy="548640"/>
          </a:xfrm>
          <a:prstGeom prst="rect">
            <a:avLst/>
          </a:prstGeom>
          <a:noFill/>
          <a:ln/>
        </p:spPr>
        <p:txBody>
          <a:bodyPr wrap="square" lIns="0" tIns="0" rIns="0" bIns="0" rtlCol="0" anchor="ctr"/>
          <a:lstStyle/>
          <a:p>
            <a:pPr marL="0" indent="0">
              <a:lnSpc>
                <a:spcPct val="125000"/>
              </a:lnSpc>
              <a:buNone/>
            </a:pPr>
            <a:r>
              <a:rPr lang="en-US" sz="1250" dirty="0">
                <a:solidFill>
                  <a:srgbClr val="5B6B87"/>
                </a:solidFill>
                <a:latin typeface="Calibri" pitchFamily="34" charset="0"/>
                <a:ea typeface="Calibri" pitchFamily="34" charset="-122"/>
                <a:cs typeface="Calibri" pitchFamily="34" charset="-120"/>
              </a:rPr>
              <a:t>This presentation walks through the motivation, dataset, design, and outcomes of the Digital Detox Analyzer project — from identifying signs of digital overuse to outlining future enhancements.</a:t>
            </a:r>
            <a:endParaRPr lang="en-US" sz="1250" dirty="0"/>
          </a:p>
        </p:txBody>
      </p:sp>
      <p:sp>
        <p:nvSpPr>
          <p:cNvPr id="5" name="Shape 3"/>
          <p:cNvSpPr/>
          <p:nvPr/>
        </p:nvSpPr>
        <p:spPr>
          <a:xfrm>
            <a:off x="548640" y="2331720"/>
            <a:ext cx="384048" cy="384048"/>
          </a:xfrm>
          <a:prstGeom prst="ellipse">
            <a:avLst/>
          </a:prstGeom>
          <a:solidFill>
            <a:srgbClr val="00B8A9"/>
          </a:solidFill>
          <a:ln/>
        </p:spPr>
      </p:sp>
      <p:sp>
        <p:nvSpPr>
          <p:cNvPr id="6" name="Text 4"/>
          <p:cNvSpPr/>
          <p:nvPr/>
        </p:nvSpPr>
        <p:spPr>
          <a:xfrm>
            <a:off x="548640"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78992" y="2331720"/>
            <a:ext cx="2926080" cy="384048"/>
          </a:xfrm>
          <a:prstGeom prst="rect">
            <a:avLst/>
          </a:prstGeom>
          <a:noFill/>
          <a:ln/>
        </p:spPr>
        <p:txBody>
          <a:bodyPr wrap="square" lIns="0" tIns="0" rIns="0" bIns="0" rtlCol="0" anchor="ctr"/>
          <a:lstStyle/>
          <a:p>
            <a:pPr marL="0" indent="0">
              <a:buNone/>
            </a:pPr>
            <a:r>
              <a:rPr lang="en-US" sz="1300" dirty="0">
                <a:solidFill>
                  <a:srgbClr val="16213E"/>
                </a:solidFill>
                <a:latin typeface="Calibri" pitchFamily="34" charset="0"/>
                <a:ea typeface="Calibri" pitchFamily="34" charset="-122"/>
                <a:cs typeface="Calibri" pitchFamily="34" charset="-120"/>
              </a:rPr>
              <a:t>Company's Profile</a:t>
            </a:r>
            <a:endParaRPr lang="en-US" sz="1300" dirty="0"/>
          </a:p>
        </p:txBody>
      </p:sp>
      <p:sp>
        <p:nvSpPr>
          <p:cNvPr id="8" name="Shape 6"/>
          <p:cNvSpPr/>
          <p:nvPr/>
        </p:nvSpPr>
        <p:spPr>
          <a:xfrm>
            <a:off x="548640" y="3246120"/>
            <a:ext cx="384048" cy="384048"/>
          </a:xfrm>
          <a:prstGeom prst="ellipse">
            <a:avLst/>
          </a:prstGeom>
          <a:solidFill>
            <a:srgbClr val="00B8A9"/>
          </a:solidFill>
          <a:ln/>
        </p:spPr>
      </p:sp>
      <p:sp>
        <p:nvSpPr>
          <p:cNvPr id="9" name="Text 7"/>
          <p:cNvSpPr/>
          <p:nvPr/>
        </p:nvSpPr>
        <p:spPr>
          <a:xfrm>
            <a:off x="548640"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078992" y="3246120"/>
            <a:ext cx="2926080" cy="384048"/>
          </a:xfrm>
          <a:prstGeom prst="rect">
            <a:avLst/>
          </a:prstGeom>
          <a:noFill/>
          <a:ln/>
        </p:spPr>
        <p:txBody>
          <a:bodyPr wrap="square" lIns="0" tIns="0" rIns="0" bIns="0" rtlCol="0" anchor="ctr"/>
          <a:lstStyle/>
          <a:p>
            <a:pPr marL="0" indent="0">
              <a:buNone/>
            </a:pPr>
            <a:r>
              <a:rPr lang="en-US" sz="1300" dirty="0">
                <a:solidFill>
                  <a:srgbClr val="16213E"/>
                </a:solidFill>
                <a:latin typeface="Calibri" pitchFamily="34" charset="0"/>
                <a:ea typeface="Calibri" pitchFamily="34" charset="-122"/>
                <a:cs typeface="Calibri" pitchFamily="34" charset="-120"/>
              </a:rPr>
              <a:t>Problem Statement</a:t>
            </a:r>
            <a:endParaRPr lang="en-US" sz="1300" dirty="0"/>
          </a:p>
        </p:txBody>
      </p:sp>
      <p:sp>
        <p:nvSpPr>
          <p:cNvPr id="11" name="Shape 9"/>
          <p:cNvSpPr/>
          <p:nvPr/>
        </p:nvSpPr>
        <p:spPr>
          <a:xfrm>
            <a:off x="548640" y="4160520"/>
            <a:ext cx="384048" cy="384048"/>
          </a:xfrm>
          <a:prstGeom prst="ellipse">
            <a:avLst/>
          </a:prstGeom>
          <a:solidFill>
            <a:srgbClr val="00B8A9"/>
          </a:solidFill>
          <a:ln/>
        </p:spPr>
      </p:sp>
      <p:sp>
        <p:nvSpPr>
          <p:cNvPr id="12" name="Text 10"/>
          <p:cNvSpPr/>
          <p:nvPr/>
        </p:nvSpPr>
        <p:spPr>
          <a:xfrm>
            <a:off x="548640" y="41605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078992" y="4160520"/>
            <a:ext cx="2926080" cy="384048"/>
          </a:xfrm>
          <a:prstGeom prst="rect">
            <a:avLst/>
          </a:prstGeom>
          <a:noFill/>
          <a:ln/>
        </p:spPr>
        <p:txBody>
          <a:bodyPr wrap="square" lIns="0" tIns="0" rIns="0" bIns="0" rtlCol="0" anchor="ctr"/>
          <a:lstStyle/>
          <a:p>
            <a:pPr marL="0" indent="0">
              <a:buNone/>
            </a:pPr>
            <a:r>
              <a:rPr lang="en-US" sz="1300" dirty="0">
                <a:solidFill>
                  <a:srgbClr val="16213E"/>
                </a:solidFill>
                <a:latin typeface="Calibri" pitchFamily="34" charset="0"/>
                <a:ea typeface="Calibri" pitchFamily="34" charset="-122"/>
                <a:cs typeface="Calibri" pitchFamily="34" charset="-120"/>
              </a:rPr>
              <a:t>Project Overview</a:t>
            </a:r>
            <a:endParaRPr lang="en-US" sz="1300" dirty="0"/>
          </a:p>
        </p:txBody>
      </p:sp>
      <p:sp>
        <p:nvSpPr>
          <p:cNvPr id="14" name="Shape 12"/>
          <p:cNvSpPr/>
          <p:nvPr/>
        </p:nvSpPr>
        <p:spPr>
          <a:xfrm>
            <a:off x="4160520" y="2331720"/>
            <a:ext cx="384048" cy="384048"/>
          </a:xfrm>
          <a:prstGeom prst="ellipse">
            <a:avLst/>
          </a:prstGeom>
          <a:solidFill>
            <a:srgbClr val="00B8A9"/>
          </a:solidFill>
          <a:ln/>
        </p:spPr>
      </p:sp>
      <p:sp>
        <p:nvSpPr>
          <p:cNvPr id="15" name="Text 13"/>
          <p:cNvSpPr/>
          <p:nvPr/>
        </p:nvSpPr>
        <p:spPr>
          <a:xfrm>
            <a:off x="4160520"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4690872" y="2331720"/>
            <a:ext cx="2926080" cy="384048"/>
          </a:xfrm>
          <a:prstGeom prst="rect">
            <a:avLst/>
          </a:prstGeom>
          <a:noFill/>
          <a:ln/>
        </p:spPr>
        <p:txBody>
          <a:bodyPr wrap="square" lIns="0" tIns="0" rIns="0" bIns="0" rtlCol="0" anchor="ctr"/>
          <a:lstStyle/>
          <a:p>
            <a:pPr marL="0" indent="0">
              <a:buNone/>
            </a:pPr>
            <a:r>
              <a:rPr lang="en-US" sz="1300" dirty="0">
                <a:solidFill>
                  <a:srgbClr val="16213E"/>
                </a:solidFill>
                <a:latin typeface="Calibri" pitchFamily="34" charset="0"/>
                <a:ea typeface="Calibri" pitchFamily="34" charset="-122"/>
                <a:cs typeface="Calibri" pitchFamily="34" charset="-120"/>
              </a:rPr>
              <a:t>Dataset Overview</a:t>
            </a:r>
            <a:endParaRPr lang="en-US" sz="1300" dirty="0"/>
          </a:p>
        </p:txBody>
      </p:sp>
      <p:sp>
        <p:nvSpPr>
          <p:cNvPr id="17" name="Shape 15"/>
          <p:cNvSpPr/>
          <p:nvPr/>
        </p:nvSpPr>
        <p:spPr>
          <a:xfrm>
            <a:off x="4160520" y="3246120"/>
            <a:ext cx="384048" cy="384048"/>
          </a:xfrm>
          <a:prstGeom prst="ellipse">
            <a:avLst/>
          </a:prstGeom>
          <a:solidFill>
            <a:srgbClr val="00B8A9"/>
          </a:solidFill>
          <a:ln/>
        </p:spPr>
      </p:sp>
      <p:sp>
        <p:nvSpPr>
          <p:cNvPr id="18" name="Text 16"/>
          <p:cNvSpPr/>
          <p:nvPr/>
        </p:nvSpPr>
        <p:spPr>
          <a:xfrm>
            <a:off x="4160520"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p:nvPr/>
        </p:nvSpPr>
        <p:spPr>
          <a:xfrm>
            <a:off x="4690872" y="3246120"/>
            <a:ext cx="2926080" cy="384048"/>
          </a:xfrm>
          <a:prstGeom prst="rect">
            <a:avLst/>
          </a:prstGeom>
          <a:noFill/>
          <a:ln/>
        </p:spPr>
        <p:txBody>
          <a:bodyPr wrap="square" lIns="0" tIns="0" rIns="0" bIns="0" rtlCol="0" anchor="ctr"/>
          <a:lstStyle/>
          <a:p>
            <a:pPr marL="0" indent="0">
              <a:buNone/>
            </a:pPr>
            <a:r>
              <a:rPr lang="en-US" sz="1300" dirty="0">
                <a:solidFill>
                  <a:srgbClr val="16213E"/>
                </a:solidFill>
                <a:latin typeface="Calibri" pitchFamily="34" charset="0"/>
                <a:ea typeface="Calibri" pitchFamily="34" charset="-122"/>
                <a:cs typeface="Calibri" pitchFamily="34" charset="-120"/>
              </a:rPr>
              <a:t>Data Preprocessing</a:t>
            </a:r>
            <a:endParaRPr lang="en-US" sz="1300" dirty="0"/>
          </a:p>
        </p:txBody>
      </p:sp>
      <p:sp>
        <p:nvSpPr>
          <p:cNvPr id="20" name="Shape 18"/>
          <p:cNvSpPr/>
          <p:nvPr/>
        </p:nvSpPr>
        <p:spPr>
          <a:xfrm>
            <a:off x="4160520" y="4160520"/>
            <a:ext cx="384048" cy="384048"/>
          </a:xfrm>
          <a:prstGeom prst="ellipse">
            <a:avLst/>
          </a:prstGeom>
          <a:solidFill>
            <a:srgbClr val="00B8A9"/>
          </a:solidFill>
          <a:ln/>
        </p:spPr>
      </p:sp>
      <p:sp>
        <p:nvSpPr>
          <p:cNvPr id="21" name="Text 19"/>
          <p:cNvSpPr/>
          <p:nvPr/>
        </p:nvSpPr>
        <p:spPr>
          <a:xfrm>
            <a:off x="4160520" y="41605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p:nvPr/>
        </p:nvSpPr>
        <p:spPr>
          <a:xfrm>
            <a:off x="4690872" y="4160520"/>
            <a:ext cx="2926080" cy="384048"/>
          </a:xfrm>
          <a:prstGeom prst="rect">
            <a:avLst/>
          </a:prstGeom>
          <a:noFill/>
          <a:ln/>
        </p:spPr>
        <p:txBody>
          <a:bodyPr wrap="square" lIns="0" tIns="0" rIns="0" bIns="0" rtlCol="0" anchor="ctr"/>
          <a:lstStyle/>
          <a:p>
            <a:pPr marL="0" indent="0">
              <a:buNone/>
            </a:pPr>
            <a:r>
              <a:rPr lang="en-US" sz="1300" dirty="0">
                <a:solidFill>
                  <a:srgbClr val="16213E"/>
                </a:solidFill>
                <a:latin typeface="Calibri" pitchFamily="34" charset="0"/>
                <a:ea typeface="Calibri" pitchFamily="34" charset="-122"/>
                <a:cs typeface="Calibri" pitchFamily="34" charset="-120"/>
              </a:rPr>
              <a:t>Technologies and Tools used</a:t>
            </a:r>
            <a:endParaRPr lang="en-US" sz="1300" dirty="0"/>
          </a:p>
        </p:txBody>
      </p:sp>
      <p:sp>
        <p:nvSpPr>
          <p:cNvPr id="23" name="Shape 21"/>
          <p:cNvSpPr/>
          <p:nvPr/>
        </p:nvSpPr>
        <p:spPr>
          <a:xfrm>
            <a:off x="7772400" y="2331720"/>
            <a:ext cx="384048" cy="384048"/>
          </a:xfrm>
          <a:prstGeom prst="ellipse">
            <a:avLst/>
          </a:prstGeom>
          <a:solidFill>
            <a:srgbClr val="00B8A9"/>
          </a:solidFill>
          <a:ln/>
        </p:spPr>
      </p:sp>
      <p:sp>
        <p:nvSpPr>
          <p:cNvPr id="24" name="Text 22"/>
          <p:cNvSpPr/>
          <p:nvPr/>
        </p:nvSpPr>
        <p:spPr>
          <a:xfrm>
            <a:off x="7772400"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5" name="Text 23"/>
          <p:cNvSpPr/>
          <p:nvPr/>
        </p:nvSpPr>
        <p:spPr>
          <a:xfrm>
            <a:off x="8302752" y="2331720"/>
            <a:ext cx="2926080" cy="384048"/>
          </a:xfrm>
          <a:prstGeom prst="rect">
            <a:avLst/>
          </a:prstGeom>
          <a:noFill/>
          <a:ln/>
        </p:spPr>
        <p:txBody>
          <a:bodyPr wrap="square" lIns="0" tIns="0" rIns="0" bIns="0" rtlCol="0" anchor="ctr"/>
          <a:lstStyle/>
          <a:p>
            <a:pPr marL="0" indent="0">
              <a:buNone/>
            </a:pPr>
            <a:r>
              <a:rPr lang="en-US" sz="1300" dirty="0">
                <a:solidFill>
                  <a:srgbClr val="16213E"/>
                </a:solidFill>
                <a:latin typeface="Calibri" pitchFamily="34" charset="0"/>
                <a:ea typeface="Calibri" pitchFamily="34" charset="-122"/>
                <a:cs typeface="Calibri" pitchFamily="34" charset="-120"/>
              </a:rPr>
              <a:t>Planned Visualization</a:t>
            </a:r>
            <a:endParaRPr lang="en-US" sz="1300" dirty="0"/>
          </a:p>
        </p:txBody>
      </p:sp>
      <p:sp>
        <p:nvSpPr>
          <p:cNvPr id="26" name="Shape 24"/>
          <p:cNvSpPr/>
          <p:nvPr/>
        </p:nvSpPr>
        <p:spPr>
          <a:xfrm>
            <a:off x="7772400" y="3246120"/>
            <a:ext cx="384048" cy="384048"/>
          </a:xfrm>
          <a:prstGeom prst="ellipse">
            <a:avLst/>
          </a:prstGeom>
          <a:solidFill>
            <a:srgbClr val="00B8A9"/>
          </a:solidFill>
          <a:ln/>
        </p:spPr>
      </p:sp>
      <p:sp>
        <p:nvSpPr>
          <p:cNvPr id="27" name="Text 25"/>
          <p:cNvSpPr/>
          <p:nvPr/>
        </p:nvSpPr>
        <p:spPr>
          <a:xfrm>
            <a:off x="7772400"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8" name="Text 26"/>
          <p:cNvSpPr/>
          <p:nvPr/>
        </p:nvSpPr>
        <p:spPr>
          <a:xfrm>
            <a:off x="8302752" y="3246120"/>
            <a:ext cx="2926080" cy="384048"/>
          </a:xfrm>
          <a:prstGeom prst="rect">
            <a:avLst/>
          </a:prstGeom>
          <a:noFill/>
          <a:ln/>
        </p:spPr>
        <p:txBody>
          <a:bodyPr wrap="square" lIns="0" tIns="0" rIns="0" bIns="0" rtlCol="0" anchor="ctr"/>
          <a:lstStyle/>
          <a:p>
            <a:pPr marL="0" indent="0">
              <a:buNone/>
            </a:pPr>
            <a:r>
              <a:rPr lang="en-US" sz="1300" dirty="0">
                <a:solidFill>
                  <a:srgbClr val="16213E"/>
                </a:solidFill>
                <a:latin typeface="Calibri" pitchFamily="34" charset="0"/>
                <a:ea typeface="Calibri" pitchFamily="34" charset="-122"/>
                <a:cs typeface="Calibri" pitchFamily="34" charset="-120"/>
              </a:rPr>
              <a:t>Challenges faced</a:t>
            </a:r>
            <a:endParaRPr lang="en-US" sz="1300" dirty="0"/>
          </a:p>
        </p:txBody>
      </p:sp>
      <p:sp>
        <p:nvSpPr>
          <p:cNvPr id="29" name="Shape 27"/>
          <p:cNvSpPr/>
          <p:nvPr/>
        </p:nvSpPr>
        <p:spPr>
          <a:xfrm>
            <a:off x="7772400" y="4160520"/>
            <a:ext cx="384048" cy="384048"/>
          </a:xfrm>
          <a:prstGeom prst="ellipse">
            <a:avLst/>
          </a:prstGeom>
          <a:solidFill>
            <a:srgbClr val="00B8A9"/>
          </a:solidFill>
          <a:ln/>
        </p:spPr>
      </p:sp>
      <p:sp>
        <p:nvSpPr>
          <p:cNvPr id="30" name="Text 28"/>
          <p:cNvSpPr/>
          <p:nvPr/>
        </p:nvSpPr>
        <p:spPr>
          <a:xfrm>
            <a:off x="7772400" y="41605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1" name="Text 29"/>
          <p:cNvSpPr/>
          <p:nvPr/>
        </p:nvSpPr>
        <p:spPr>
          <a:xfrm>
            <a:off x="8302752" y="4160520"/>
            <a:ext cx="2926080" cy="384048"/>
          </a:xfrm>
          <a:prstGeom prst="rect">
            <a:avLst/>
          </a:prstGeom>
          <a:noFill/>
          <a:ln/>
        </p:spPr>
        <p:txBody>
          <a:bodyPr wrap="square" lIns="0" tIns="0" rIns="0" bIns="0" rtlCol="0" anchor="ctr"/>
          <a:lstStyle/>
          <a:p>
            <a:pPr marL="0" indent="0">
              <a:buNone/>
            </a:pPr>
            <a:r>
              <a:rPr lang="en-US" sz="1300" dirty="0">
                <a:solidFill>
                  <a:srgbClr val="16213E"/>
                </a:solidFill>
                <a:latin typeface="Calibri" pitchFamily="34" charset="0"/>
                <a:ea typeface="Calibri" pitchFamily="34" charset="-122"/>
                <a:cs typeface="Calibri" pitchFamily="34" charset="-120"/>
              </a:rPr>
              <a:t>Key Findings</a:t>
            </a:r>
            <a:endParaRPr lang="en-US" sz="1300" dirty="0"/>
          </a:p>
        </p:txBody>
      </p:sp>
      <p:sp>
        <p:nvSpPr>
          <p:cNvPr id="32" name="Shape 30"/>
          <p:cNvSpPr/>
          <p:nvPr/>
        </p:nvSpPr>
        <p:spPr>
          <a:xfrm>
            <a:off x="548640" y="5212080"/>
            <a:ext cx="384048" cy="384048"/>
          </a:xfrm>
          <a:prstGeom prst="ellipse">
            <a:avLst/>
          </a:prstGeom>
          <a:solidFill>
            <a:srgbClr val="00B8A9"/>
          </a:solidFill>
          <a:ln/>
        </p:spPr>
      </p:sp>
      <p:sp>
        <p:nvSpPr>
          <p:cNvPr id="33" name="Text 31"/>
          <p:cNvSpPr/>
          <p:nvPr/>
        </p:nvSpPr>
        <p:spPr>
          <a:xfrm>
            <a:off x="548640" y="521208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4" name="Text 32"/>
          <p:cNvSpPr/>
          <p:nvPr/>
        </p:nvSpPr>
        <p:spPr>
          <a:xfrm>
            <a:off x="1078992" y="5212080"/>
            <a:ext cx="2743200" cy="384048"/>
          </a:xfrm>
          <a:prstGeom prst="rect">
            <a:avLst/>
          </a:prstGeom>
          <a:noFill/>
          <a:ln/>
        </p:spPr>
        <p:txBody>
          <a:bodyPr wrap="square" lIns="0" tIns="0" rIns="0" bIns="0"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Conclusion</a:t>
            </a:r>
            <a:endParaRPr lang="en-US" sz="1300" dirty="0"/>
          </a:p>
        </p:txBody>
      </p:sp>
      <p:sp>
        <p:nvSpPr>
          <p:cNvPr id="35" name="Text 33"/>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5B6B87"/>
                </a:solidFill>
                <a:latin typeface="Calibri" pitchFamily="34" charset="0"/>
                <a:ea typeface="Calibri" pitchFamily="34" charset="-122"/>
                <a:cs typeface="Calibri" pitchFamily="34" charset="-120"/>
              </a:rPr>
              <a:t>02</a:t>
            </a:r>
            <a:endParaRPr lang="en-US" sz="1000" dirty="0"/>
          </a:p>
        </p:txBody>
      </p:sp>
      <p:sp>
        <p:nvSpPr>
          <p:cNvPr id="36" name="Text 34"/>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A9B4C8"/>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4294B"/>
          </a:solidFill>
          <a:ln/>
        </p:spPr>
      </p:sp>
      <p:sp>
        <p:nvSpPr>
          <p:cNvPr id="3" name="Shape 1"/>
          <p:cNvSpPr/>
          <p:nvPr/>
        </p:nvSpPr>
        <p:spPr>
          <a:xfrm>
            <a:off x="8686800" y="-1828800"/>
            <a:ext cx="4572000" cy="4572000"/>
          </a:xfrm>
          <a:prstGeom prst="ellipse">
            <a:avLst/>
          </a:prstGeom>
          <a:solidFill>
            <a:srgbClr val="14294B"/>
          </a:solidFill>
          <a:ln/>
        </p:spPr>
      </p:sp>
      <p:sp>
        <p:nvSpPr>
          <p:cNvPr id="4" name="Shape 2"/>
          <p:cNvSpPr/>
          <p:nvPr/>
        </p:nvSpPr>
        <p:spPr>
          <a:xfrm>
            <a:off x="9418320" y="-1097280"/>
            <a:ext cx="2743200" cy="2743200"/>
          </a:xfrm>
          <a:prstGeom prst="ellipse">
            <a:avLst/>
          </a:prstGeom>
          <a:solidFill>
            <a:srgbClr val="00B8A9"/>
          </a:solidFill>
          <a:ln/>
        </p:spPr>
      </p:sp>
      <p:sp>
        <p:nvSpPr>
          <p:cNvPr id="5" name="Text 3"/>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8FA3C4"/>
                </a:solidFill>
                <a:latin typeface="Calibri" pitchFamily="34" charset="0"/>
                <a:ea typeface="Calibri" pitchFamily="34" charset="-122"/>
                <a:cs typeface="Calibri" pitchFamily="34" charset="-120"/>
              </a:rPr>
              <a:t>03</a:t>
            </a:r>
            <a:endParaRPr lang="en-US" sz="1000" dirty="0"/>
          </a:p>
        </p:txBody>
      </p:sp>
      <p:sp>
        <p:nvSpPr>
          <p:cNvPr id="6" name="Text 4"/>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5E7196"/>
                </a:solidFill>
                <a:latin typeface="Calibri" pitchFamily="34" charset="0"/>
                <a:ea typeface="Calibri" pitchFamily="34" charset="-122"/>
                <a:cs typeface="Calibri" pitchFamily="34" charset="-120"/>
              </a:rPr>
              <a:t>AI JOB MARKET ANALYSIS</a:t>
            </a:r>
            <a:endParaRPr lang="en-US" sz="800" dirty="0"/>
          </a:p>
        </p:txBody>
      </p:sp>
      <p:pic>
        <p:nvPicPr>
          <p:cNvPr id="8" name="Picture 7">
            <a:extLst>
              <a:ext uri="{FF2B5EF4-FFF2-40B4-BE49-F238E27FC236}">
                <a16:creationId xmlns:a16="http://schemas.microsoft.com/office/drawing/2014/main" id="{26A8949E-F936-C9F9-B9C5-79B88E9DB3A3}"/>
              </a:ext>
            </a:extLst>
          </p:cNvPr>
          <p:cNvPicPr>
            <a:picLocks noChangeAspect="1"/>
          </p:cNvPicPr>
          <p:nvPr/>
        </p:nvPicPr>
        <p:blipFill>
          <a:blip r:embed="rId3"/>
          <a:stretch>
            <a:fillRect/>
          </a:stretch>
        </p:blipFill>
        <p:spPr>
          <a:xfrm>
            <a:off x="0" y="0"/>
            <a:ext cx="12161520" cy="68579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78F83"/>
                </a:solidFill>
                <a:latin typeface="Calibri" pitchFamily="34" charset="0"/>
                <a:ea typeface="Calibri" pitchFamily="34" charset="-122"/>
                <a:cs typeface="Calibri" pitchFamily="34" charset="-120"/>
              </a:rPr>
              <a:t>04 — THE CHALLENGE</a:t>
            </a:r>
            <a:endParaRPr lang="en-US" sz="1200" dirty="0"/>
          </a:p>
        </p:txBody>
      </p:sp>
      <p:sp>
        <p:nvSpPr>
          <p:cNvPr id="3" name="Text 1"/>
          <p:cNvSpPr/>
          <p:nvPr/>
        </p:nvSpPr>
        <p:spPr>
          <a:xfrm>
            <a:off x="548640" y="713232"/>
            <a:ext cx="8686800" cy="640080"/>
          </a:xfrm>
          <a:prstGeom prst="rect">
            <a:avLst/>
          </a:prstGeom>
          <a:noFill/>
          <a:ln/>
        </p:spPr>
        <p:txBody>
          <a:bodyPr wrap="square" lIns="0" tIns="0" rIns="0" bIns="0" rtlCol="0" anchor="ctr"/>
          <a:lstStyle/>
          <a:p>
            <a:pPr marL="0" indent="0">
              <a:buNone/>
            </a:pPr>
            <a:r>
              <a:rPr lang="en-US" sz="3000" b="1" dirty="0">
                <a:solidFill>
                  <a:srgbClr val="16213E"/>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48640" y="1691640"/>
            <a:ext cx="5623560" cy="1874520"/>
          </a:xfrm>
          <a:prstGeom prst="roundRect">
            <a:avLst>
              <a:gd name="adj" fmla="val 3902"/>
            </a:avLst>
          </a:prstGeom>
          <a:solidFill>
            <a:srgbClr val="FFFFFF"/>
          </a:solidFill>
          <a:ln/>
          <a:effectLst>
            <a:outerShdw blurRad="101600" dist="38100" dir="5400000" algn="bl" rotWithShape="0">
              <a:srgbClr val="1C2B4A">
                <a:alpha val="12000"/>
              </a:srgbClr>
            </a:outerShdw>
          </a:effectLst>
        </p:spPr>
      </p:sp>
      <p:sp>
        <p:nvSpPr>
          <p:cNvPr id="5" name="Shape 3"/>
          <p:cNvSpPr/>
          <p:nvPr/>
        </p:nvSpPr>
        <p:spPr>
          <a:xfrm>
            <a:off x="822960" y="1965960"/>
            <a:ext cx="402336" cy="402336"/>
          </a:xfrm>
          <a:prstGeom prst="ellipse">
            <a:avLst/>
          </a:prstGeom>
          <a:solidFill>
            <a:srgbClr val="00B8A9"/>
          </a:solidFill>
          <a:ln/>
        </p:spPr>
      </p:sp>
      <p:sp>
        <p:nvSpPr>
          <p:cNvPr id="6" name="Text 4"/>
          <p:cNvSpPr/>
          <p:nvPr/>
        </p:nvSpPr>
        <p:spPr>
          <a:xfrm>
            <a:off x="822960" y="19659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22960" y="2514600"/>
            <a:ext cx="5074920" cy="914400"/>
          </a:xfrm>
          <a:prstGeom prst="rect">
            <a:avLst/>
          </a:prstGeom>
          <a:noFill/>
          <a:ln/>
        </p:spPr>
        <p:txBody>
          <a:bodyPr wrap="square" lIns="0" tIns="0" rIns="0" bIns="0" rtlCol="0" anchor="ctr"/>
          <a:lstStyle/>
          <a:p>
            <a:pPr marL="0" indent="0">
              <a:lnSpc>
                <a:spcPct val="125000"/>
              </a:lnSpc>
              <a:buNone/>
            </a:pPr>
            <a:r>
              <a:rPr lang="en-US" sz="1300" dirty="0">
                <a:solidFill>
                  <a:srgbClr val="16213E"/>
                </a:solidFill>
                <a:latin typeface="Calibri" pitchFamily="34" charset="0"/>
                <a:ea typeface="Calibri" pitchFamily="34" charset="-122"/>
                <a:cs typeface="Calibri" pitchFamily="34" charset="-120"/>
              </a:rPr>
              <a:t>AI job market data is large and complex, making it difficult to understand important trends and patterns.</a:t>
            </a:r>
            <a:endParaRPr lang="en-US" sz="1300" dirty="0"/>
          </a:p>
        </p:txBody>
      </p:sp>
      <p:sp>
        <p:nvSpPr>
          <p:cNvPr id="8" name="Shape 6"/>
          <p:cNvSpPr/>
          <p:nvPr/>
        </p:nvSpPr>
        <p:spPr>
          <a:xfrm>
            <a:off x="5989320" y="1691640"/>
            <a:ext cx="5623560" cy="1874520"/>
          </a:xfrm>
          <a:prstGeom prst="roundRect">
            <a:avLst>
              <a:gd name="adj" fmla="val 3902"/>
            </a:avLst>
          </a:prstGeom>
          <a:solidFill>
            <a:srgbClr val="FFFFFF"/>
          </a:solidFill>
          <a:ln/>
          <a:effectLst>
            <a:outerShdw blurRad="101600" dist="38100" dir="5400000" algn="bl" rotWithShape="0">
              <a:srgbClr val="1C2B4A">
                <a:alpha val="12000"/>
              </a:srgbClr>
            </a:outerShdw>
          </a:effectLst>
        </p:spPr>
      </p:sp>
      <p:sp>
        <p:nvSpPr>
          <p:cNvPr id="9" name="Shape 7"/>
          <p:cNvSpPr/>
          <p:nvPr/>
        </p:nvSpPr>
        <p:spPr>
          <a:xfrm>
            <a:off x="6263640" y="1965960"/>
            <a:ext cx="402336" cy="402336"/>
          </a:xfrm>
          <a:prstGeom prst="ellipse">
            <a:avLst/>
          </a:prstGeom>
          <a:solidFill>
            <a:srgbClr val="00B8A9"/>
          </a:solidFill>
          <a:ln/>
        </p:spPr>
      </p:sp>
      <p:sp>
        <p:nvSpPr>
          <p:cNvPr id="10" name="Text 8"/>
          <p:cNvSpPr/>
          <p:nvPr/>
        </p:nvSpPr>
        <p:spPr>
          <a:xfrm>
            <a:off x="6263640" y="19659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6263640" y="2514600"/>
            <a:ext cx="5074920" cy="914400"/>
          </a:xfrm>
          <a:prstGeom prst="rect">
            <a:avLst/>
          </a:prstGeom>
          <a:noFill/>
          <a:ln/>
        </p:spPr>
        <p:txBody>
          <a:bodyPr wrap="square" lIns="0" tIns="0" rIns="0" bIns="0" rtlCol="0" anchor="ctr"/>
          <a:lstStyle/>
          <a:p>
            <a:pPr marL="0" indent="0">
              <a:lnSpc>
                <a:spcPct val="125000"/>
              </a:lnSpc>
              <a:buNone/>
            </a:pPr>
            <a:r>
              <a:rPr lang="en-US" sz="1300" dirty="0">
                <a:solidFill>
                  <a:srgbClr val="16213E"/>
                </a:solidFill>
                <a:latin typeface="Calibri" pitchFamily="34" charset="0"/>
                <a:ea typeface="Calibri" pitchFamily="34" charset="-122"/>
                <a:cs typeface="Calibri" pitchFamily="34" charset="-120"/>
              </a:rPr>
              <a:t>Job seekers often struggle to identify the most in-demand skills and the qualifications required by employers.</a:t>
            </a:r>
            <a:endParaRPr lang="en-US" sz="1300" dirty="0"/>
          </a:p>
        </p:txBody>
      </p:sp>
      <p:sp>
        <p:nvSpPr>
          <p:cNvPr id="12" name="Shape 10"/>
          <p:cNvSpPr/>
          <p:nvPr/>
        </p:nvSpPr>
        <p:spPr>
          <a:xfrm>
            <a:off x="548640" y="3794760"/>
            <a:ext cx="5623560" cy="1874520"/>
          </a:xfrm>
          <a:prstGeom prst="roundRect">
            <a:avLst>
              <a:gd name="adj" fmla="val 3902"/>
            </a:avLst>
          </a:prstGeom>
          <a:solidFill>
            <a:srgbClr val="FFFFFF"/>
          </a:solidFill>
          <a:ln/>
          <a:effectLst>
            <a:outerShdw blurRad="101600" dist="38100" dir="5400000" algn="bl" rotWithShape="0">
              <a:srgbClr val="1C2B4A">
                <a:alpha val="12000"/>
              </a:srgbClr>
            </a:outerShdw>
          </a:effectLst>
        </p:spPr>
      </p:sp>
      <p:sp>
        <p:nvSpPr>
          <p:cNvPr id="13" name="Shape 11"/>
          <p:cNvSpPr/>
          <p:nvPr/>
        </p:nvSpPr>
        <p:spPr>
          <a:xfrm>
            <a:off x="822960" y="4069080"/>
            <a:ext cx="402336" cy="402336"/>
          </a:xfrm>
          <a:prstGeom prst="ellipse">
            <a:avLst/>
          </a:prstGeom>
          <a:solidFill>
            <a:srgbClr val="00B8A9"/>
          </a:solidFill>
          <a:ln/>
        </p:spPr>
      </p:sp>
      <p:sp>
        <p:nvSpPr>
          <p:cNvPr id="14" name="Text 12"/>
          <p:cNvSpPr/>
          <p:nvPr/>
        </p:nvSpPr>
        <p:spPr>
          <a:xfrm>
            <a:off x="822960" y="40690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822960" y="4617720"/>
            <a:ext cx="5074920" cy="914400"/>
          </a:xfrm>
          <a:prstGeom prst="rect">
            <a:avLst/>
          </a:prstGeom>
          <a:noFill/>
          <a:ln/>
        </p:spPr>
        <p:txBody>
          <a:bodyPr wrap="square" lIns="0" tIns="0" rIns="0" bIns="0" rtlCol="0" anchor="ctr"/>
          <a:lstStyle/>
          <a:p>
            <a:pPr marL="0" indent="0">
              <a:lnSpc>
                <a:spcPct val="125000"/>
              </a:lnSpc>
              <a:buNone/>
            </a:pPr>
            <a:r>
              <a:rPr lang="en-US" sz="1300" dirty="0">
                <a:solidFill>
                  <a:srgbClr val="16213E"/>
                </a:solidFill>
                <a:latin typeface="Calibri" pitchFamily="34" charset="0"/>
                <a:ea typeface="Calibri" pitchFamily="34" charset="-122"/>
                <a:cs typeface="Calibri" pitchFamily="34" charset="-120"/>
              </a:rPr>
              <a:t>Salary and job opportunities vary across different roles, companies, and locations, making career planning confusing.</a:t>
            </a:r>
            <a:endParaRPr lang="en-US" sz="1300" dirty="0"/>
          </a:p>
        </p:txBody>
      </p:sp>
      <p:sp>
        <p:nvSpPr>
          <p:cNvPr id="16" name="Shape 14"/>
          <p:cNvSpPr/>
          <p:nvPr/>
        </p:nvSpPr>
        <p:spPr>
          <a:xfrm>
            <a:off x="5989320" y="3794760"/>
            <a:ext cx="5623560" cy="1874520"/>
          </a:xfrm>
          <a:prstGeom prst="roundRect">
            <a:avLst>
              <a:gd name="adj" fmla="val 3902"/>
            </a:avLst>
          </a:prstGeom>
          <a:solidFill>
            <a:srgbClr val="FFFFFF"/>
          </a:solidFill>
          <a:ln/>
          <a:effectLst>
            <a:outerShdw blurRad="101600" dist="38100" dir="5400000" algn="bl" rotWithShape="0">
              <a:srgbClr val="1C2B4A">
                <a:alpha val="12000"/>
              </a:srgbClr>
            </a:outerShdw>
          </a:effectLst>
        </p:spPr>
      </p:sp>
      <p:sp>
        <p:nvSpPr>
          <p:cNvPr id="17" name="Shape 15"/>
          <p:cNvSpPr/>
          <p:nvPr/>
        </p:nvSpPr>
        <p:spPr>
          <a:xfrm>
            <a:off x="6263640" y="4069080"/>
            <a:ext cx="402336" cy="402336"/>
          </a:xfrm>
          <a:prstGeom prst="ellipse">
            <a:avLst/>
          </a:prstGeom>
          <a:solidFill>
            <a:srgbClr val="00B8A9"/>
          </a:solidFill>
          <a:ln/>
        </p:spPr>
      </p:sp>
      <p:sp>
        <p:nvSpPr>
          <p:cNvPr id="18" name="Text 16"/>
          <p:cNvSpPr/>
          <p:nvPr/>
        </p:nvSpPr>
        <p:spPr>
          <a:xfrm>
            <a:off x="6263640" y="40690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6263640" y="4617720"/>
            <a:ext cx="5074920" cy="914400"/>
          </a:xfrm>
          <a:prstGeom prst="rect">
            <a:avLst/>
          </a:prstGeom>
          <a:noFill/>
          <a:ln/>
        </p:spPr>
        <p:txBody>
          <a:bodyPr wrap="square" lIns="0" tIns="0" rIns="0" bIns="0" rtlCol="0" anchor="ctr"/>
          <a:lstStyle/>
          <a:p>
            <a:pPr marL="0" indent="0">
              <a:lnSpc>
                <a:spcPct val="125000"/>
              </a:lnSpc>
              <a:buNone/>
            </a:pPr>
            <a:r>
              <a:rPr lang="en-US" sz="1300" dirty="0">
                <a:solidFill>
                  <a:srgbClr val="16213E"/>
                </a:solidFill>
                <a:latin typeface="Calibri" pitchFamily="34" charset="0"/>
                <a:ea typeface="Calibri" pitchFamily="34" charset="-122"/>
                <a:cs typeface="Calibri" pitchFamily="34" charset="-120"/>
              </a:rPr>
              <a:t>Without proper data analysis and visualization, it is difficult to make informed career and hiring decisions.</a:t>
            </a:r>
            <a:endParaRPr lang="en-US" sz="1300" dirty="0"/>
          </a:p>
        </p:txBody>
      </p:sp>
      <p:sp>
        <p:nvSpPr>
          <p:cNvPr id="20" name="Text 18"/>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5B6B87"/>
                </a:solidFill>
                <a:latin typeface="Calibri" pitchFamily="34" charset="0"/>
                <a:ea typeface="Calibri" pitchFamily="34" charset="-122"/>
                <a:cs typeface="Calibri" pitchFamily="34" charset="-120"/>
              </a:rPr>
              <a:t>04</a:t>
            </a:r>
            <a:endParaRPr lang="en-US" sz="1000" dirty="0"/>
          </a:p>
        </p:txBody>
      </p:sp>
      <p:sp>
        <p:nvSpPr>
          <p:cNvPr id="21" name="Text 19"/>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A9B4C8"/>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0B1F3A"/>
          </a:solidFill>
          <a:ln/>
        </p:spPr>
      </p:sp>
      <p:sp>
        <p:nvSpPr>
          <p:cNvPr id="3" name="Shape 1"/>
          <p:cNvSpPr/>
          <p:nvPr/>
        </p:nvSpPr>
        <p:spPr>
          <a:xfrm>
            <a:off x="8778240" y="2377440"/>
            <a:ext cx="2743200" cy="2743200"/>
          </a:xfrm>
          <a:prstGeom prst="ellipse">
            <a:avLst/>
          </a:prstGeom>
          <a:solidFill>
            <a:srgbClr val="14294B"/>
          </a:solidFill>
          <a:ln/>
        </p:spPr>
      </p:sp>
      <p:sp>
        <p:nvSpPr>
          <p:cNvPr id="4" name="Shape 2"/>
          <p:cNvSpPr/>
          <p:nvPr/>
        </p:nvSpPr>
        <p:spPr>
          <a:xfrm>
            <a:off x="9418320" y="3017520"/>
            <a:ext cx="1463040" cy="1463040"/>
          </a:xfrm>
          <a:prstGeom prst="ellipse">
            <a:avLst/>
          </a:prstGeom>
          <a:solidFill>
            <a:srgbClr val="00B8A9"/>
          </a:solidFill>
          <a:ln/>
        </p:spPr>
      </p:sp>
      <p:sp>
        <p:nvSpPr>
          <p:cNvPr id="5" name="Text 3"/>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78F83"/>
                </a:solidFill>
                <a:latin typeface="Calibri" pitchFamily="34" charset="0"/>
                <a:ea typeface="Calibri" pitchFamily="34" charset="-122"/>
                <a:cs typeface="Calibri" pitchFamily="34" charset="-120"/>
              </a:rPr>
              <a:t>05 — PROJECT OVERVIEW</a:t>
            </a:r>
            <a:endParaRPr lang="en-US" sz="1200" dirty="0"/>
          </a:p>
        </p:txBody>
      </p:sp>
      <p:sp>
        <p:nvSpPr>
          <p:cNvPr id="6" name="Text 4"/>
          <p:cNvSpPr/>
          <p:nvPr/>
        </p:nvSpPr>
        <p:spPr>
          <a:xfrm>
            <a:off x="548640" y="713232"/>
            <a:ext cx="7315200" cy="640080"/>
          </a:xfrm>
          <a:prstGeom prst="rect">
            <a:avLst/>
          </a:prstGeom>
          <a:noFill/>
          <a:ln/>
        </p:spPr>
        <p:txBody>
          <a:bodyPr wrap="square" lIns="0" tIns="0" rIns="0" bIns="0" rtlCol="0" anchor="ctr"/>
          <a:lstStyle/>
          <a:p>
            <a:pPr marL="0" indent="0">
              <a:buNone/>
            </a:pPr>
            <a:r>
              <a:rPr lang="en-US" sz="2800" b="1" dirty="0">
                <a:solidFill>
                  <a:srgbClr val="16213E"/>
                </a:solidFill>
                <a:latin typeface="Cambria" pitchFamily="34" charset="0"/>
                <a:ea typeface="Cambria" pitchFamily="34" charset="-122"/>
                <a:cs typeface="Cambria" pitchFamily="34" charset="-120"/>
              </a:rPr>
              <a:t>AI Job Market Analysis</a:t>
            </a:r>
            <a:endParaRPr lang="en-US" sz="2800" dirty="0"/>
          </a:p>
        </p:txBody>
      </p:sp>
      <p:sp>
        <p:nvSpPr>
          <p:cNvPr id="7" name="Text 5"/>
          <p:cNvSpPr/>
          <p:nvPr/>
        </p:nvSpPr>
        <p:spPr>
          <a:xfrm>
            <a:off x="548640" y="1691640"/>
            <a:ext cx="7223760" cy="1554480"/>
          </a:xfrm>
          <a:prstGeom prst="rect">
            <a:avLst/>
          </a:prstGeom>
          <a:noFill/>
          <a:ln/>
        </p:spPr>
        <p:txBody>
          <a:bodyPr wrap="square" lIns="0" tIns="0" rIns="0" bIns="0" rtlCol="0" anchor="ctr"/>
          <a:lstStyle/>
          <a:p>
            <a:pPr marL="0" indent="0">
              <a:lnSpc>
                <a:spcPct val="135000"/>
              </a:lnSpc>
              <a:buNone/>
            </a:pPr>
            <a:r>
              <a:rPr lang="en-US" sz="1400" dirty="0">
                <a:solidFill>
                  <a:srgbClr val="16213E"/>
                </a:solidFill>
                <a:latin typeface="Calibri" pitchFamily="34" charset="0"/>
                <a:ea typeface="Calibri" pitchFamily="34" charset="-122"/>
                <a:cs typeface="Calibri" pitchFamily="34" charset="-120"/>
              </a:rPr>
              <a:t>Artificial intelligence has become one of the fastest-growing fields in today’s technology industry. Every year, thousands of companies hire professionals for AI-related roles such as Machine Learning Engineer, Data Scientist, and AI Engineer.</a:t>
            </a:r>
            <a:endParaRPr lang="en-US" sz="1400" dirty="0"/>
          </a:p>
        </p:txBody>
      </p:sp>
      <p:sp>
        <p:nvSpPr>
          <p:cNvPr id="8" name="Text 6"/>
          <p:cNvSpPr/>
          <p:nvPr/>
        </p:nvSpPr>
        <p:spPr>
          <a:xfrm>
            <a:off x="548640" y="3429000"/>
            <a:ext cx="7223760" cy="1828800"/>
          </a:xfrm>
          <a:prstGeom prst="rect">
            <a:avLst/>
          </a:prstGeom>
          <a:noFill/>
          <a:ln/>
        </p:spPr>
        <p:txBody>
          <a:bodyPr wrap="square" lIns="0" tIns="0" rIns="0" bIns="0" rtlCol="0" anchor="ctr"/>
          <a:lstStyle/>
          <a:p>
            <a:pPr marL="0" indent="0">
              <a:lnSpc>
                <a:spcPct val="135000"/>
              </a:lnSpc>
              <a:buNone/>
            </a:pPr>
            <a:r>
              <a:rPr lang="en-US" sz="1400" dirty="0">
                <a:solidFill>
                  <a:srgbClr val="5B6B87"/>
                </a:solidFill>
                <a:latin typeface="Calibri" pitchFamily="34" charset="0"/>
                <a:ea typeface="Calibri" pitchFamily="34" charset="-122"/>
                <a:cs typeface="Calibri" pitchFamily="34" charset="-120"/>
              </a:rPr>
              <a:t>This project focuses on analyzing an AI job market dataset to understand hiring trends, salary distribution, experience requirements, and the demand for different job roles. The analysis was carried out using Python and various data visualization libraries to convert raw data into meaningful insights.</a:t>
            </a:r>
            <a:endParaRPr lang="en-US" sz="1400" dirty="0"/>
          </a:p>
        </p:txBody>
      </p:sp>
      <p:sp>
        <p:nvSpPr>
          <p:cNvPr id="9" name="Text 7"/>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5B6B87"/>
                </a:solidFill>
                <a:latin typeface="Calibri" pitchFamily="34" charset="0"/>
                <a:ea typeface="Calibri" pitchFamily="34" charset="-122"/>
                <a:cs typeface="Calibri" pitchFamily="34" charset="-120"/>
              </a:rPr>
              <a:t>05</a:t>
            </a:r>
            <a:endParaRPr lang="en-US" sz="1000" dirty="0"/>
          </a:p>
        </p:txBody>
      </p:sp>
      <p:sp>
        <p:nvSpPr>
          <p:cNvPr id="10" name="Text 8"/>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A9B4C8"/>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78F83"/>
                </a:solidFill>
                <a:latin typeface="Calibri" pitchFamily="34" charset="0"/>
                <a:ea typeface="Calibri" pitchFamily="34" charset="-122"/>
                <a:cs typeface="Calibri" pitchFamily="34" charset="-120"/>
              </a:rPr>
              <a:t>06 — GOALS</a:t>
            </a:r>
            <a:endParaRPr lang="en-US" sz="1200" dirty="0"/>
          </a:p>
        </p:txBody>
      </p:sp>
      <p:sp>
        <p:nvSpPr>
          <p:cNvPr id="3" name="Text 1"/>
          <p:cNvSpPr/>
          <p:nvPr/>
        </p:nvSpPr>
        <p:spPr>
          <a:xfrm>
            <a:off x="548640" y="713232"/>
            <a:ext cx="8686800" cy="640080"/>
          </a:xfrm>
          <a:prstGeom prst="rect">
            <a:avLst/>
          </a:prstGeom>
          <a:noFill/>
          <a:ln/>
        </p:spPr>
        <p:txBody>
          <a:bodyPr wrap="square" lIns="0" tIns="0" rIns="0" bIns="0" rtlCol="0" anchor="ctr"/>
          <a:lstStyle/>
          <a:p>
            <a:pPr marL="0" indent="0">
              <a:buNone/>
            </a:pPr>
            <a:r>
              <a:rPr lang="en-US" sz="3000" b="1" dirty="0">
                <a:solidFill>
                  <a:srgbClr val="16213E"/>
                </a:solidFill>
                <a:latin typeface="Cambria" pitchFamily="34" charset="0"/>
                <a:ea typeface="Cambria" pitchFamily="34" charset="-122"/>
                <a:cs typeface="Cambria" pitchFamily="34" charset="-120"/>
              </a:rPr>
              <a:t>Project Objectives</a:t>
            </a:r>
            <a:endParaRPr lang="en-US" sz="3000" dirty="0"/>
          </a:p>
        </p:txBody>
      </p:sp>
      <p:sp>
        <p:nvSpPr>
          <p:cNvPr id="4" name="Shape 2"/>
          <p:cNvSpPr/>
          <p:nvPr/>
        </p:nvSpPr>
        <p:spPr>
          <a:xfrm>
            <a:off x="548640" y="1828800"/>
            <a:ext cx="2084832" cy="3520440"/>
          </a:xfrm>
          <a:prstGeom prst="roundRect">
            <a:avLst>
              <a:gd name="adj" fmla="val 3509"/>
            </a:avLst>
          </a:prstGeom>
          <a:solidFill>
            <a:srgbClr val="FFFFFF"/>
          </a:solidFill>
          <a:ln/>
          <a:effectLst>
            <a:outerShdw blurRad="101600" dist="38100" dir="5400000" algn="bl" rotWithShape="0">
              <a:srgbClr val="1C2B4A">
                <a:alpha val="12000"/>
              </a:srgbClr>
            </a:outerShdw>
          </a:effectLst>
        </p:spPr>
      </p:sp>
      <p:sp>
        <p:nvSpPr>
          <p:cNvPr id="5" name="Shape 3"/>
          <p:cNvSpPr/>
          <p:nvPr/>
        </p:nvSpPr>
        <p:spPr>
          <a:xfrm>
            <a:off x="768096" y="2084832"/>
            <a:ext cx="365760" cy="365760"/>
          </a:xfrm>
          <a:prstGeom prst="ellipse">
            <a:avLst/>
          </a:prstGeom>
          <a:solidFill>
            <a:srgbClr val="00B8A9"/>
          </a:solidFill>
          <a:ln/>
        </p:spPr>
      </p:sp>
      <p:sp>
        <p:nvSpPr>
          <p:cNvPr id="6" name="Text 4"/>
          <p:cNvSpPr/>
          <p:nvPr/>
        </p:nvSpPr>
        <p:spPr>
          <a:xfrm>
            <a:off x="768096" y="20848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749808" y="2651760"/>
            <a:ext cx="1682496" cy="777240"/>
          </a:xfrm>
          <a:prstGeom prst="rect">
            <a:avLst/>
          </a:prstGeom>
          <a:noFill/>
          <a:ln/>
        </p:spPr>
        <p:txBody>
          <a:bodyPr wrap="square" lIns="0" tIns="0" rIns="0" bIns="0" rtlCol="0" anchor="ctr"/>
          <a:lstStyle/>
          <a:p>
            <a:pPr marL="0" indent="0">
              <a:lnSpc>
                <a:spcPct val="115000"/>
              </a:lnSpc>
              <a:buNone/>
            </a:pPr>
            <a:r>
              <a:rPr lang="en-US" sz="1300" b="1" dirty="0">
                <a:solidFill>
                  <a:srgbClr val="16213E"/>
                </a:solidFill>
                <a:latin typeface="Calibri" pitchFamily="34" charset="0"/>
                <a:ea typeface="Calibri" pitchFamily="34" charset="-122"/>
                <a:cs typeface="Calibri" pitchFamily="34" charset="-120"/>
              </a:rPr>
              <a:t>Analyze AI job market trends</a:t>
            </a:r>
            <a:endParaRPr lang="en-US" sz="1300" dirty="0"/>
          </a:p>
        </p:txBody>
      </p:sp>
      <p:sp>
        <p:nvSpPr>
          <p:cNvPr id="8" name="Text 6"/>
          <p:cNvSpPr/>
          <p:nvPr/>
        </p:nvSpPr>
        <p:spPr>
          <a:xfrm>
            <a:off x="749808" y="3474720"/>
            <a:ext cx="1682496" cy="1737360"/>
          </a:xfrm>
          <a:prstGeom prst="rect">
            <a:avLst/>
          </a:prstGeom>
          <a:noFill/>
          <a:ln/>
        </p:spPr>
        <p:txBody>
          <a:bodyPr wrap="square" lIns="0" tIns="0" rIns="0" bIns="0" rtlCol="0" anchor="ctr"/>
          <a:lstStyle/>
          <a:p>
            <a:pPr marL="0" indent="0">
              <a:lnSpc>
                <a:spcPct val="125000"/>
              </a:lnSpc>
              <a:buNone/>
            </a:pPr>
            <a:r>
              <a:rPr lang="en-US" sz="1050" dirty="0">
                <a:solidFill>
                  <a:srgbClr val="5B6B87"/>
                </a:solidFill>
                <a:latin typeface="Calibri" pitchFamily="34" charset="0"/>
                <a:ea typeface="Calibri" pitchFamily="34" charset="-122"/>
                <a:cs typeface="Calibri" pitchFamily="34" charset="-120"/>
              </a:rPr>
              <a:t>Detect growth areas by role, industry, and time period to highlight demand trajectories.</a:t>
            </a:r>
            <a:endParaRPr lang="en-US" sz="1050" dirty="0"/>
          </a:p>
        </p:txBody>
      </p:sp>
      <p:sp>
        <p:nvSpPr>
          <p:cNvPr id="9" name="Shape 7"/>
          <p:cNvSpPr/>
          <p:nvPr/>
        </p:nvSpPr>
        <p:spPr>
          <a:xfrm>
            <a:off x="2798064" y="1828800"/>
            <a:ext cx="2084832" cy="3520440"/>
          </a:xfrm>
          <a:prstGeom prst="roundRect">
            <a:avLst>
              <a:gd name="adj" fmla="val 3509"/>
            </a:avLst>
          </a:prstGeom>
          <a:solidFill>
            <a:srgbClr val="FFFFFF"/>
          </a:solidFill>
          <a:ln/>
          <a:effectLst>
            <a:outerShdw blurRad="101600" dist="38100" dir="5400000" algn="bl" rotWithShape="0">
              <a:srgbClr val="1C2B4A">
                <a:alpha val="12000"/>
              </a:srgbClr>
            </a:outerShdw>
          </a:effectLst>
        </p:spPr>
      </p:sp>
      <p:sp>
        <p:nvSpPr>
          <p:cNvPr id="10" name="Shape 8"/>
          <p:cNvSpPr/>
          <p:nvPr/>
        </p:nvSpPr>
        <p:spPr>
          <a:xfrm>
            <a:off x="3017520" y="2084832"/>
            <a:ext cx="365760" cy="365760"/>
          </a:xfrm>
          <a:prstGeom prst="ellipse">
            <a:avLst/>
          </a:prstGeom>
          <a:solidFill>
            <a:srgbClr val="00B8A9"/>
          </a:solidFill>
          <a:ln/>
        </p:spPr>
      </p:sp>
      <p:sp>
        <p:nvSpPr>
          <p:cNvPr id="11" name="Text 9"/>
          <p:cNvSpPr/>
          <p:nvPr/>
        </p:nvSpPr>
        <p:spPr>
          <a:xfrm>
            <a:off x="3017520" y="20848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2999232" y="2651760"/>
            <a:ext cx="1682496" cy="777240"/>
          </a:xfrm>
          <a:prstGeom prst="rect">
            <a:avLst/>
          </a:prstGeom>
          <a:noFill/>
          <a:ln/>
        </p:spPr>
        <p:txBody>
          <a:bodyPr wrap="square" lIns="0" tIns="0" rIns="0" bIns="0" rtlCol="0" anchor="ctr"/>
          <a:lstStyle/>
          <a:p>
            <a:pPr marL="0" indent="0">
              <a:lnSpc>
                <a:spcPct val="115000"/>
              </a:lnSpc>
              <a:buNone/>
            </a:pPr>
            <a:r>
              <a:rPr lang="en-US" sz="1300" b="1" dirty="0">
                <a:solidFill>
                  <a:srgbClr val="16213E"/>
                </a:solidFill>
                <a:latin typeface="Calibri" pitchFamily="34" charset="0"/>
                <a:ea typeface="Calibri" pitchFamily="34" charset="-122"/>
                <a:cs typeface="Calibri" pitchFamily="34" charset="-120"/>
              </a:rPr>
              <a:t>Study salary distribution</a:t>
            </a:r>
            <a:endParaRPr lang="en-US" sz="1300" dirty="0"/>
          </a:p>
        </p:txBody>
      </p:sp>
      <p:sp>
        <p:nvSpPr>
          <p:cNvPr id="13" name="Text 11"/>
          <p:cNvSpPr/>
          <p:nvPr/>
        </p:nvSpPr>
        <p:spPr>
          <a:xfrm>
            <a:off x="2999232" y="3474720"/>
            <a:ext cx="1682496" cy="1737360"/>
          </a:xfrm>
          <a:prstGeom prst="rect">
            <a:avLst/>
          </a:prstGeom>
          <a:noFill/>
          <a:ln/>
        </p:spPr>
        <p:txBody>
          <a:bodyPr wrap="square" lIns="0" tIns="0" rIns="0" bIns="0" rtlCol="0" anchor="ctr"/>
          <a:lstStyle/>
          <a:p>
            <a:pPr marL="0" indent="0">
              <a:lnSpc>
                <a:spcPct val="125000"/>
              </a:lnSpc>
              <a:buNone/>
            </a:pPr>
            <a:r>
              <a:rPr lang="en-US" sz="1050" dirty="0">
                <a:solidFill>
                  <a:srgbClr val="5B6B87"/>
                </a:solidFill>
                <a:latin typeface="Calibri" pitchFamily="34" charset="0"/>
                <a:ea typeface="Calibri" pitchFamily="34" charset="-122"/>
                <a:cs typeface="Calibri" pitchFamily="34" charset="-120"/>
              </a:rPr>
              <a:t>Examine medians, quartiles, and outliers by role, country, and experience to reveal pay structure.</a:t>
            </a:r>
            <a:endParaRPr lang="en-US" sz="1050" dirty="0"/>
          </a:p>
        </p:txBody>
      </p:sp>
      <p:sp>
        <p:nvSpPr>
          <p:cNvPr id="14" name="Shape 12"/>
          <p:cNvSpPr/>
          <p:nvPr/>
        </p:nvSpPr>
        <p:spPr>
          <a:xfrm>
            <a:off x="5047488" y="1828800"/>
            <a:ext cx="2084832" cy="3520440"/>
          </a:xfrm>
          <a:prstGeom prst="roundRect">
            <a:avLst>
              <a:gd name="adj" fmla="val 3509"/>
            </a:avLst>
          </a:prstGeom>
          <a:solidFill>
            <a:srgbClr val="FFFFFF"/>
          </a:solidFill>
          <a:ln/>
          <a:effectLst>
            <a:outerShdw blurRad="101600" dist="38100" dir="5400000" algn="bl" rotWithShape="0">
              <a:srgbClr val="1C2B4A">
                <a:alpha val="12000"/>
              </a:srgbClr>
            </a:outerShdw>
          </a:effectLst>
        </p:spPr>
      </p:sp>
      <p:sp>
        <p:nvSpPr>
          <p:cNvPr id="15" name="Shape 13"/>
          <p:cNvSpPr/>
          <p:nvPr/>
        </p:nvSpPr>
        <p:spPr>
          <a:xfrm>
            <a:off x="5266944" y="2084832"/>
            <a:ext cx="365760" cy="365760"/>
          </a:xfrm>
          <a:prstGeom prst="ellipse">
            <a:avLst/>
          </a:prstGeom>
          <a:solidFill>
            <a:srgbClr val="00B8A9"/>
          </a:solidFill>
          <a:ln/>
        </p:spPr>
      </p:sp>
      <p:sp>
        <p:nvSpPr>
          <p:cNvPr id="16" name="Text 14"/>
          <p:cNvSpPr/>
          <p:nvPr/>
        </p:nvSpPr>
        <p:spPr>
          <a:xfrm>
            <a:off x="5266944" y="20848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5248656" y="2651760"/>
            <a:ext cx="1682496" cy="777240"/>
          </a:xfrm>
          <a:prstGeom prst="rect">
            <a:avLst/>
          </a:prstGeom>
          <a:noFill/>
          <a:ln/>
        </p:spPr>
        <p:txBody>
          <a:bodyPr wrap="square" lIns="0" tIns="0" rIns="0" bIns="0" rtlCol="0" anchor="ctr"/>
          <a:lstStyle/>
          <a:p>
            <a:pPr marL="0" indent="0">
              <a:lnSpc>
                <a:spcPct val="115000"/>
              </a:lnSpc>
              <a:buNone/>
            </a:pPr>
            <a:r>
              <a:rPr lang="en-US" sz="1300" b="1" dirty="0">
                <a:solidFill>
                  <a:srgbClr val="16213E"/>
                </a:solidFill>
                <a:latin typeface="Calibri" pitchFamily="34" charset="0"/>
                <a:ea typeface="Calibri" pitchFamily="34" charset="-122"/>
                <a:cs typeface="Calibri" pitchFamily="34" charset="-120"/>
              </a:rPr>
              <a:t>Compare experience levels</a:t>
            </a:r>
            <a:endParaRPr lang="en-US" sz="1300" dirty="0"/>
          </a:p>
        </p:txBody>
      </p:sp>
      <p:sp>
        <p:nvSpPr>
          <p:cNvPr id="18" name="Text 16"/>
          <p:cNvSpPr/>
          <p:nvPr/>
        </p:nvSpPr>
        <p:spPr>
          <a:xfrm>
            <a:off x="5248656" y="3474720"/>
            <a:ext cx="1682496" cy="1737360"/>
          </a:xfrm>
          <a:prstGeom prst="rect">
            <a:avLst/>
          </a:prstGeom>
          <a:noFill/>
          <a:ln/>
        </p:spPr>
        <p:txBody>
          <a:bodyPr wrap="square" lIns="0" tIns="0" rIns="0" bIns="0" rtlCol="0" anchor="ctr"/>
          <a:lstStyle/>
          <a:p>
            <a:pPr marL="0" indent="0">
              <a:lnSpc>
                <a:spcPct val="125000"/>
              </a:lnSpc>
              <a:buNone/>
            </a:pPr>
            <a:r>
              <a:rPr lang="en-US" sz="1050" dirty="0">
                <a:solidFill>
                  <a:srgbClr val="5B6B87"/>
                </a:solidFill>
                <a:latin typeface="Calibri" pitchFamily="34" charset="0"/>
                <a:ea typeface="Calibri" pitchFamily="34" charset="-122"/>
                <a:cs typeface="Calibri" pitchFamily="34" charset="-120"/>
              </a:rPr>
              <a:t>Map how junior-, mid-, and senior-level demand differs across roles and geographies.</a:t>
            </a:r>
            <a:endParaRPr lang="en-US" sz="1050" dirty="0"/>
          </a:p>
        </p:txBody>
      </p:sp>
      <p:sp>
        <p:nvSpPr>
          <p:cNvPr id="19" name="Shape 17"/>
          <p:cNvSpPr/>
          <p:nvPr/>
        </p:nvSpPr>
        <p:spPr>
          <a:xfrm>
            <a:off x="7296912" y="1828800"/>
            <a:ext cx="2084832" cy="3520440"/>
          </a:xfrm>
          <a:prstGeom prst="roundRect">
            <a:avLst>
              <a:gd name="adj" fmla="val 3509"/>
            </a:avLst>
          </a:prstGeom>
          <a:solidFill>
            <a:srgbClr val="FFFFFF"/>
          </a:solidFill>
          <a:ln/>
          <a:effectLst>
            <a:outerShdw blurRad="101600" dist="38100" dir="5400000" algn="bl" rotWithShape="0">
              <a:srgbClr val="1C2B4A">
                <a:alpha val="12000"/>
              </a:srgbClr>
            </a:outerShdw>
          </a:effectLst>
        </p:spPr>
      </p:sp>
      <p:sp>
        <p:nvSpPr>
          <p:cNvPr id="20" name="Shape 18"/>
          <p:cNvSpPr/>
          <p:nvPr/>
        </p:nvSpPr>
        <p:spPr>
          <a:xfrm>
            <a:off x="7516368" y="2084832"/>
            <a:ext cx="365760" cy="365760"/>
          </a:xfrm>
          <a:prstGeom prst="ellipse">
            <a:avLst/>
          </a:prstGeom>
          <a:solidFill>
            <a:srgbClr val="00B8A9"/>
          </a:solidFill>
          <a:ln/>
        </p:spPr>
      </p:sp>
      <p:sp>
        <p:nvSpPr>
          <p:cNvPr id="21" name="Text 19"/>
          <p:cNvSpPr/>
          <p:nvPr/>
        </p:nvSpPr>
        <p:spPr>
          <a:xfrm>
            <a:off x="7516368" y="20848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7498080" y="2651760"/>
            <a:ext cx="1682496" cy="777240"/>
          </a:xfrm>
          <a:prstGeom prst="rect">
            <a:avLst/>
          </a:prstGeom>
          <a:noFill/>
          <a:ln/>
        </p:spPr>
        <p:txBody>
          <a:bodyPr wrap="square" lIns="0" tIns="0" rIns="0" bIns="0" rtlCol="0" anchor="ctr"/>
          <a:lstStyle/>
          <a:p>
            <a:pPr marL="0" indent="0">
              <a:lnSpc>
                <a:spcPct val="115000"/>
              </a:lnSpc>
              <a:buNone/>
            </a:pPr>
            <a:r>
              <a:rPr lang="en-US" sz="1300" b="1" dirty="0">
                <a:solidFill>
                  <a:srgbClr val="16213E"/>
                </a:solidFill>
                <a:latin typeface="Calibri" pitchFamily="34" charset="0"/>
                <a:ea typeface="Calibri" pitchFamily="34" charset="-122"/>
                <a:cs typeface="Calibri" pitchFamily="34" charset="-120"/>
              </a:rPr>
              <a:t>Analyse country-wise hiring</a:t>
            </a:r>
            <a:endParaRPr lang="en-US" sz="1300" dirty="0"/>
          </a:p>
        </p:txBody>
      </p:sp>
      <p:sp>
        <p:nvSpPr>
          <p:cNvPr id="23" name="Text 21"/>
          <p:cNvSpPr/>
          <p:nvPr/>
        </p:nvSpPr>
        <p:spPr>
          <a:xfrm>
            <a:off x="7498080" y="3474720"/>
            <a:ext cx="1682496" cy="1737360"/>
          </a:xfrm>
          <a:prstGeom prst="rect">
            <a:avLst/>
          </a:prstGeom>
          <a:noFill/>
          <a:ln/>
        </p:spPr>
        <p:txBody>
          <a:bodyPr wrap="square" lIns="0" tIns="0" rIns="0" bIns="0" rtlCol="0" anchor="ctr"/>
          <a:lstStyle/>
          <a:p>
            <a:pPr marL="0" indent="0">
              <a:lnSpc>
                <a:spcPct val="125000"/>
              </a:lnSpc>
              <a:buNone/>
            </a:pPr>
            <a:r>
              <a:rPr lang="en-US" sz="1050" dirty="0">
                <a:solidFill>
                  <a:srgbClr val="5B6B87"/>
                </a:solidFill>
                <a:latin typeface="Calibri" pitchFamily="34" charset="0"/>
                <a:ea typeface="Calibri" pitchFamily="34" charset="-122"/>
                <a:cs typeface="Calibri" pitchFamily="34" charset="-120"/>
              </a:rPr>
              <a:t>Identify leading countries, regional concentrations, and remote hiring patterns.</a:t>
            </a:r>
            <a:endParaRPr lang="en-US" sz="1050" dirty="0"/>
          </a:p>
        </p:txBody>
      </p:sp>
      <p:sp>
        <p:nvSpPr>
          <p:cNvPr id="24" name="Shape 22"/>
          <p:cNvSpPr/>
          <p:nvPr/>
        </p:nvSpPr>
        <p:spPr>
          <a:xfrm>
            <a:off x="9546336" y="1828800"/>
            <a:ext cx="2084832" cy="3520440"/>
          </a:xfrm>
          <a:prstGeom prst="roundRect">
            <a:avLst>
              <a:gd name="adj" fmla="val 3509"/>
            </a:avLst>
          </a:prstGeom>
          <a:solidFill>
            <a:srgbClr val="FFFFFF"/>
          </a:solidFill>
          <a:ln/>
          <a:effectLst>
            <a:outerShdw blurRad="101600" dist="38100" dir="5400000" algn="bl" rotWithShape="0">
              <a:srgbClr val="1C2B4A">
                <a:alpha val="12000"/>
              </a:srgbClr>
            </a:outerShdw>
          </a:effectLst>
        </p:spPr>
      </p:sp>
      <p:sp>
        <p:nvSpPr>
          <p:cNvPr id="25" name="Shape 23"/>
          <p:cNvSpPr/>
          <p:nvPr/>
        </p:nvSpPr>
        <p:spPr>
          <a:xfrm>
            <a:off x="9765792" y="2084832"/>
            <a:ext cx="365760" cy="365760"/>
          </a:xfrm>
          <a:prstGeom prst="ellipse">
            <a:avLst/>
          </a:prstGeom>
          <a:solidFill>
            <a:srgbClr val="00B8A9"/>
          </a:solidFill>
          <a:ln/>
        </p:spPr>
      </p:sp>
      <p:sp>
        <p:nvSpPr>
          <p:cNvPr id="26" name="Text 24"/>
          <p:cNvSpPr/>
          <p:nvPr/>
        </p:nvSpPr>
        <p:spPr>
          <a:xfrm>
            <a:off x="9765792" y="20848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9747504" y="2651760"/>
            <a:ext cx="1682496" cy="777240"/>
          </a:xfrm>
          <a:prstGeom prst="rect">
            <a:avLst/>
          </a:prstGeom>
          <a:noFill/>
          <a:ln/>
        </p:spPr>
        <p:txBody>
          <a:bodyPr wrap="square" lIns="0" tIns="0" rIns="0" bIns="0" rtlCol="0" anchor="ctr"/>
          <a:lstStyle/>
          <a:p>
            <a:pPr marL="0" indent="0">
              <a:lnSpc>
                <a:spcPct val="115000"/>
              </a:lnSpc>
              <a:buNone/>
            </a:pPr>
            <a:r>
              <a:rPr lang="en-US" sz="1300" b="1" dirty="0">
                <a:solidFill>
                  <a:srgbClr val="16213E"/>
                </a:solidFill>
                <a:latin typeface="Calibri" pitchFamily="34" charset="0"/>
                <a:ea typeface="Calibri" pitchFamily="34" charset="-122"/>
                <a:cs typeface="Calibri" pitchFamily="34" charset="-120"/>
              </a:rPr>
              <a:t>Find in-demand skills</a:t>
            </a:r>
            <a:endParaRPr lang="en-US" sz="1300" dirty="0"/>
          </a:p>
        </p:txBody>
      </p:sp>
      <p:sp>
        <p:nvSpPr>
          <p:cNvPr id="28" name="Text 26"/>
          <p:cNvSpPr/>
          <p:nvPr/>
        </p:nvSpPr>
        <p:spPr>
          <a:xfrm>
            <a:off x="9747504" y="3474720"/>
            <a:ext cx="1682496" cy="1737360"/>
          </a:xfrm>
          <a:prstGeom prst="rect">
            <a:avLst/>
          </a:prstGeom>
          <a:noFill/>
          <a:ln/>
        </p:spPr>
        <p:txBody>
          <a:bodyPr wrap="square" lIns="0" tIns="0" rIns="0" bIns="0" rtlCol="0" anchor="ctr"/>
          <a:lstStyle/>
          <a:p>
            <a:pPr marL="0" indent="0">
              <a:lnSpc>
                <a:spcPct val="125000"/>
              </a:lnSpc>
              <a:buNone/>
            </a:pPr>
            <a:r>
              <a:rPr lang="en-US" sz="1050" dirty="0">
                <a:solidFill>
                  <a:srgbClr val="5B6B87"/>
                </a:solidFill>
                <a:latin typeface="Calibri" pitchFamily="34" charset="0"/>
                <a:ea typeface="Calibri" pitchFamily="34" charset="-122"/>
                <a:cs typeface="Calibri" pitchFamily="34" charset="-120"/>
              </a:rPr>
              <a:t>Rank technical and soft skills appearing in postings to prioritise learning and hiring focus.</a:t>
            </a:r>
            <a:endParaRPr lang="en-US" sz="1050" dirty="0"/>
          </a:p>
        </p:txBody>
      </p:sp>
      <p:sp>
        <p:nvSpPr>
          <p:cNvPr id="29" name="Text 27"/>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5B6B87"/>
                </a:solidFill>
                <a:latin typeface="Calibri" pitchFamily="34" charset="0"/>
                <a:ea typeface="Calibri" pitchFamily="34" charset="-122"/>
                <a:cs typeface="Calibri" pitchFamily="34" charset="-120"/>
              </a:rPr>
              <a:t>06</a:t>
            </a:r>
            <a:endParaRPr lang="en-US" sz="1000" dirty="0"/>
          </a:p>
        </p:txBody>
      </p:sp>
      <p:sp>
        <p:nvSpPr>
          <p:cNvPr id="30" name="Text 28"/>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A9B4C8"/>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78F83"/>
                </a:solidFill>
                <a:latin typeface="Calibri" pitchFamily="34" charset="0"/>
                <a:ea typeface="Calibri" pitchFamily="34" charset="-122"/>
                <a:cs typeface="Calibri" pitchFamily="34" charset="-120"/>
              </a:rPr>
              <a:t>07 — THE DATA</a:t>
            </a:r>
            <a:endParaRPr lang="en-US" sz="1200" dirty="0"/>
          </a:p>
        </p:txBody>
      </p:sp>
      <p:sp>
        <p:nvSpPr>
          <p:cNvPr id="3" name="Text 1"/>
          <p:cNvSpPr/>
          <p:nvPr/>
        </p:nvSpPr>
        <p:spPr>
          <a:xfrm>
            <a:off x="548640" y="713232"/>
            <a:ext cx="8686800" cy="640080"/>
          </a:xfrm>
          <a:prstGeom prst="rect">
            <a:avLst/>
          </a:prstGeom>
          <a:noFill/>
          <a:ln/>
        </p:spPr>
        <p:txBody>
          <a:bodyPr wrap="square" lIns="0" tIns="0" rIns="0" bIns="0" rtlCol="0" anchor="ctr"/>
          <a:lstStyle/>
          <a:p>
            <a:pPr marL="0" indent="0">
              <a:buNone/>
            </a:pPr>
            <a:r>
              <a:rPr lang="en-US" sz="3000" b="1" dirty="0">
                <a:solidFill>
                  <a:srgbClr val="16213E"/>
                </a:solidFill>
                <a:latin typeface="Cambria" pitchFamily="34" charset="0"/>
                <a:ea typeface="Cambria" pitchFamily="34" charset="-122"/>
                <a:cs typeface="Cambria" pitchFamily="34" charset="-120"/>
              </a:rPr>
              <a:t>Dataset Overview</a:t>
            </a:r>
            <a:endParaRPr lang="en-US" sz="3000" dirty="0"/>
          </a:p>
        </p:txBody>
      </p:sp>
      <p:sp>
        <p:nvSpPr>
          <p:cNvPr id="4" name="Text 2"/>
          <p:cNvSpPr/>
          <p:nvPr/>
        </p:nvSpPr>
        <p:spPr>
          <a:xfrm>
            <a:off x="548640" y="1554480"/>
            <a:ext cx="10881360" cy="685800"/>
          </a:xfrm>
          <a:prstGeom prst="rect">
            <a:avLst/>
          </a:prstGeom>
          <a:noFill/>
          <a:ln/>
        </p:spPr>
        <p:txBody>
          <a:bodyPr wrap="square" lIns="0" tIns="0" rIns="0" bIns="0" rtlCol="0" anchor="ctr"/>
          <a:lstStyle/>
          <a:p>
            <a:pPr marL="0" indent="0">
              <a:lnSpc>
                <a:spcPct val="130000"/>
              </a:lnSpc>
              <a:buNone/>
            </a:pPr>
            <a:r>
              <a:rPr lang="en-US" sz="1400" dirty="0">
                <a:solidFill>
                  <a:srgbClr val="16213E"/>
                </a:solidFill>
                <a:latin typeface="Calibri" pitchFamily="34" charset="0"/>
                <a:ea typeface="Calibri" pitchFamily="34" charset="-122"/>
                <a:cs typeface="Calibri" pitchFamily="34" charset="-120"/>
              </a:rPr>
              <a:t>The dataset used in this project contains information related to AI jobs from different companies around the world. It includes details such as:</a:t>
            </a:r>
            <a:endParaRPr lang="en-US" sz="1400" dirty="0"/>
          </a:p>
        </p:txBody>
      </p:sp>
      <p:sp>
        <p:nvSpPr>
          <p:cNvPr id="5" name="Shape 3"/>
          <p:cNvSpPr/>
          <p:nvPr/>
        </p:nvSpPr>
        <p:spPr>
          <a:xfrm>
            <a:off x="548640" y="2596896"/>
            <a:ext cx="146304" cy="146304"/>
          </a:xfrm>
          <a:prstGeom prst="ellipse">
            <a:avLst/>
          </a:prstGeom>
          <a:solidFill>
            <a:srgbClr val="00B8A9"/>
          </a:solidFill>
          <a:ln/>
        </p:spPr>
      </p:sp>
      <p:sp>
        <p:nvSpPr>
          <p:cNvPr id="6" name="Text 4"/>
          <p:cNvSpPr/>
          <p:nvPr/>
        </p:nvSpPr>
        <p:spPr>
          <a:xfrm>
            <a:off x="841248" y="2514600"/>
            <a:ext cx="3108960" cy="365760"/>
          </a:xfrm>
          <a:prstGeom prst="rect">
            <a:avLst/>
          </a:prstGeom>
          <a:noFill/>
          <a:ln/>
        </p:spPr>
        <p:txBody>
          <a:bodyPr wrap="square" lIns="0" tIns="0" rIns="0" bIns="0" rtlCol="0" anchor="ctr"/>
          <a:lstStyle/>
          <a:p>
            <a:pPr marL="0" indent="0">
              <a:buNone/>
            </a:pPr>
            <a:r>
              <a:rPr lang="en-US" sz="1400" dirty="0">
                <a:solidFill>
                  <a:srgbClr val="16213E"/>
                </a:solidFill>
                <a:latin typeface="Calibri" pitchFamily="34" charset="0"/>
                <a:ea typeface="Calibri" pitchFamily="34" charset="-122"/>
                <a:cs typeface="Calibri" pitchFamily="34" charset="-120"/>
              </a:rPr>
              <a:t>Company Location</a:t>
            </a:r>
            <a:endParaRPr lang="en-US" sz="1400" dirty="0"/>
          </a:p>
        </p:txBody>
      </p:sp>
      <p:sp>
        <p:nvSpPr>
          <p:cNvPr id="7" name="Shape 5"/>
          <p:cNvSpPr/>
          <p:nvPr/>
        </p:nvSpPr>
        <p:spPr>
          <a:xfrm>
            <a:off x="4160520" y="2596896"/>
            <a:ext cx="146304" cy="146304"/>
          </a:xfrm>
          <a:prstGeom prst="ellipse">
            <a:avLst/>
          </a:prstGeom>
          <a:solidFill>
            <a:srgbClr val="00B8A9"/>
          </a:solidFill>
          <a:ln/>
        </p:spPr>
      </p:sp>
      <p:sp>
        <p:nvSpPr>
          <p:cNvPr id="8" name="Text 6"/>
          <p:cNvSpPr/>
          <p:nvPr/>
        </p:nvSpPr>
        <p:spPr>
          <a:xfrm>
            <a:off x="4453128" y="2514600"/>
            <a:ext cx="3108960" cy="365760"/>
          </a:xfrm>
          <a:prstGeom prst="rect">
            <a:avLst/>
          </a:prstGeom>
          <a:noFill/>
          <a:ln/>
        </p:spPr>
        <p:txBody>
          <a:bodyPr wrap="square" lIns="0" tIns="0" rIns="0" bIns="0" rtlCol="0" anchor="ctr"/>
          <a:lstStyle/>
          <a:p>
            <a:pPr marL="0" indent="0">
              <a:buNone/>
            </a:pPr>
            <a:r>
              <a:rPr lang="en-US" sz="1400" dirty="0">
                <a:solidFill>
                  <a:srgbClr val="16213E"/>
                </a:solidFill>
                <a:latin typeface="Calibri" pitchFamily="34" charset="0"/>
                <a:ea typeface="Calibri" pitchFamily="34" charset="-122"/>
                <a:cs typeface="Calibri" pitchFamily="34" charset="-120"/>
              </a:rPr>
              <a:t>Experience level</a:t>
            </a:r>
            <a:endParaRPr lang="en-US" sz="1400" dirty="0"/>
          </a:p>
        </p:txBody>
      </p:sp>
      <p:sp>
        <p:nvSpPr>
          <p:cNvPr id="9" name="Shape 7"/>
          <p:cNvSpPr/>
          <p:nvPr/>
        </p:nvSpPr>
        <p:spPr>
          <a:xfrm>
            <a:off x="7772400" y="2596896"/>
            <a:ext cx="146304" cy="146304"/>
          </a:xfrm>
          <a:prstGeom prst="ellipse">
            <a:avLst/>
          </a:prstGeom>
          <a:solidFill>
            <a:srgbClr val="00B8A9"/>
          </a:solidFill>
          <a:ln/>
        </p:spPr>
      </p:sp>
      <p:sp>
        <p:nvSpPr>
          <p:cNvPr id="10" name="Text 8"/>
          <p:cNvSpPr/>
          <p:nvPr/>
        </p:nvSpPr>
        <p:spPr>
          <a:xfrm>
            <a:off x="8065008" y="2514600"/>
            <a:ext cx="3108960" cy="365760"/>
          </a:xfrm>
          <a:prstGeom prst="rect">
            <a:avLst/>
          </a:prstGeom>
          <a:noFill/>
          <a:ln/>
        </p:spPr>
        <p:txBody>
          <a:bodyPr wrap="square" lIns="0" tIns="0" rIns="0" bIns="0" rtlCol="0" anchor="ctr"/>
          <a:lstStyle/>
          <a:p>
            <a:pPr marL="0" indent="0">
              <a:buNone/>
            </a:pPr>
            <a:r>
              <a:rPr lang="en-US" sz="1400" dirty="0">
                <a:solidFill>
                  <a:srgbClr val="16213E"/>
                </a:solidFill>
                <a:latin typeface="Calibri" pitchFamily="34" charset="0"/>
                <a:ea typeface="Calibri" pitchFamily="34" charset="-122"/>
                <a:cs typeface="Calibri" pitchFamily="34" charset="-120"/>
              </a:rPr>
              <a:t>Remote work ratio</a:t>
            </a:r>
            <a:endParaRPr lang="en-US" sz="1400" dirty="0"/>
          </a:p>
        </p:txBody>
      </p:sp>
      <p:sp>
        <p:nvSpPr>
          <p:cNvPr id="11" name="Shape 9"/>
          <p:cNvSpPr/>
          <p:nvPr/>
        </p:nvSpPr>
        <p:spPr>
          <a:xfrm>
            <a:off x="548640" y="3255264"/>
            <a:ext cx="146304" cy="146304"/>
          </a:xfrm>
          <a:prstGeom prst="ellipse">
            <a:avLst/>
          </a:prstGeom>
          <a:solidFill>
            <a:srgbClr val="00B8A9"/>
          </a:solidFill>
          <a:ln/>
        </p:spPr>
      </p:sp>
      <p:sp>
        <p:nvSpPr>
          <p:cNvPr id="12" name="Text 10"/>
          <p:cNvSpPr/>
          <p:nvPr/>
        </p:nvSpPr>
        <p:spPr>
          <a:xfrm>
            <a:off x="841248" y="3172968"/>
            <a:ext cx="3108960" cy="365760"/>
          </a:xfrm>
          <a:prstGeom prst="rect">
            <a:avLst/>
          </a:prstGeom>
          <a:noFill/>
          <a:ln/>
        </p:spPr>
        <p:txBody>
          <a:bodyPr wrap="square" lIns="0" tIns="0" rIns="0" bIns="0" rtlCol="0" anchor="ctr"/>
          <a:lstStyle/>
          <a:p>
            <a:pPr marL="0" indent="0">
              <a:buNone/>
            </a:pPr>
            <a:r>
              <a:rPr lang="en-US" sz="1400" dirty="0">
                <a:solidFill>
                  <a:srgbClr val="16213E"/>
                </a:solidFill>
                <a:latin typeface="Calibri" pitchFamily="34" charset="0"/>
                <a:ea typeface="Calibri" pitchFamily="34" charset="-122"/>
                <a:cs typeface="Calibri" pitchFamily="34" charset="-120"/>
              </a:rPr>
              <a:t>Required skills</a:t>
            </a:r>
            <a:endParaRPr lang="en-US" sz="1400" dirty="0"/>
          </a:p>
        </p:txBody>
      </p:sp>
      <p:sp>
        <p:nvSpPr>
          <p:cNvPr id="13" name="Shape 11"/>
          <p:cNvSpPr/>
          <p:nvPr/>
        </p:nvSpPr>
        <p:spPr>
          <a:xfrm>
            <a:off x="4160520" y="3255264"/>
            <a:ext cx="146304" cy="146304"/>
          </a:xfrm>
          <a:prstGeom prst="ellipse">
            <a:avLst/>
          </a:prstGeom>
          <a:solidFill>
            <a:srgbClr val="00B8A9"/>
          </a:solidFill>
          <a:ln/>
        </p:spPr>
      </p:sp>
      <p:sp>
        <p:nvSpPr>
          <p:cNvPr id="14" name="Text 12"/>
          <p:cNvSpPr/>
          <p:nvPr/>
        </p:nvSpPr>
        <p:spPr>
          <a:xfrm>
            <a:off x="4453128" y="3172968"/>
            <a:ext cx="3108960" cy="365760"/>
          </a:xfrm>
          <a:prstGeom prst="rect">
            <a:avLst/>
          </a:prstGeom>
          <a:noFill/>
          <a:ln/>
        </p:spPr>
        <p:txBody>
          <a:bodyPr wrap="square" lIns="0" tIns="0" rIns="0" bIns="0" rtlCol="0" anchor="ctr"/>
          <a:lstStyle/>
          <a:p>
            <a:pPr marL="0" indent="0">
              <a:buNone/>
            </a:pPr>
            <a:r>
              <a:rPr lang="en-US" sz="1400" dirty="0">
                <a:solidFill>
                  <a:srgbClr val="16213E"/>
                </a:solidFill>
                <a:latin typeface="Calibri" pitchFamily="34" charset="0"/>
                <a:ea typeface="Calibri" pitchFamily="34" charset="-122"/>
                <a:cs typeface="Calibri" pitchFamily="34" charset="-120"/>
              </a:rPr>
              <a:t>Salary</a:t>
            </a:r>
            <a:endParaRPr lang="en-US" sz="1400" dirty="0"/>
          </a:p>
        </p:txBody>
      </p:sp>
      <p:sp>
        <p:nvSpPr>
          <p:cNvPr id="15" name="Shape 13"/>
          <p:cNvSpPr/>
          <p:nvPr/>
        </p:nvSpPr>
        <p:spPr>
          <a:xfrm>
            <a:off x="7772400" y="3255264"/>
            <a:ext cx="146304" cy="146304"/>
          </a:xfrm>
          <a:prstGeom prst="ellipse">
            <a:avLst/>
          </a:prstGeom>
          <a:solidFill>
            <a:srgbClr val="00B8A9"/>
          </a:solidFill>
          <a:ln/>
        </p:spPr>
      </p:sp>
      <p:sp>
        <p:nvSpPr>
          <p:cNvPr id="16" name="Text 14"/>
          <p:cNvSpPr/>
          <p:nvPr/>
        </p:nvSpPr>
        <p:spPr>
          <a:xfrm>
            <a:off x="8065008" y="3172968"/>
            <a:ext cx="3108960" cy="365760"/>
          </a:xfrm>
          <a:prstGeom prst="rect">
            <a:avLst/>
          </a:prstGeom>
          <a:noFill/>
          <a:ln/>
        </p:spPr>
        <p:txBody>
          <a:bodyPr wrap="square" lIns="0" tIns="0" rIns="0" bIns="0" rtlCol="0" anchor="ctr"/>
          <a:lstStyle/>
          <a:p>
            <a:pPr marL="0" indent="0">
              <a:buNone/>
            </a:pPr>
            <a:r>
              <a:rPr lang="en-US" sz="1400" dirty="0">
                <a:solidFill>
                  <a:srgbClr val="16213E"/>
                </a:solidFill>
                <a:latin typeface="Calibri" pitchFamily="34" charset="0"/>
                <a:ea typeface="Calibri" pitchFamily="34" charset="-122"/>
                <a:cs typeface="Calibri" pitchFamily="34" charset="-120"/>
              </a:rPr>
              <a:t>Employement type</a:t>
            </a:r>
            <a:endParaRPr lang="en-US" sz="1400" dirty="0"/>
          </a:p>
        </p:txBody>
      </p:sp>
      <p:sp>
        <p:nvSpPr>
          <p:cNvPr id="17" name="Shape 15"/>
          <p:cNvSpPr/>
          <p:nvPr/>
        </p:nvSpPr>
        <p:spPr>
          <a:xfrm>
            <a:off x="548640" y="3913632"/>
            <a:ext cx="146304" cy="146304"/>
          </a:xfrm>
          <a:prstGeom prst="ellipse">
            <a:avLst/>
          </a:prstGeom>
          <a:solidFill>
            <a:srgbClr val="00B8A9"/>
          </a:solidFill>
          <a:ln/>
        </p:spPr>
      </p:sp>
      <p:sp>
        <p:nvSpPr>
          <p:cNvPr id="18" name="Text 16"/>
          <p:cNvSpPr/>
          <p:nvPr/>
        </p:nvSpPr>
        <p:spPr>
          <a:xfrm>
            <a:off x="841248" y="3831336"/>
            <a:ext cx="3108960" cy="365760"/>
          </a:xfrm>
          <a:prstGeom prst="rect">
            <a:avLst/>
          </a:prstGeom>
          <a:noFill/>
          <a:ln/>
        </p:spPr>
        <p:txBody>
          <a:bodyPr wrap="square" lIns="0" tIns="0" rIns="0" bIns="0" rtlCol="0" anchor="ctr"/>
          <a:lstStyle/>
          <a:p>
            <a:pPr marL="0" indent="0">
              <a:buNone/>
            </a:pPr>
            <a:r>
              <a:rPr lang="en-US" sz="1400" dirty="0">
                <a:solidFill>
                  <a:srgbClr val="16213E"/>
                </a:solidFill>
                <a:latin typeface="Calibri" pitchFamily="34" charset="0"/>
                <a:ea typeface="Calibri" pitchFamily="34" charset="-122"/>
                <a:cs typeface="Calibri" pitchFamily="34" charset="-120"/>
              </a:rPr>
              <a:t>Company size</a:t>
            </a:r>
            <a:endParaRPr lang="en-US" sz="1400" dirty="0"/>
          </a:p>
        </p:txBody>
      </p:sp>
      <p:sp>
        <p:nvSpPr>
          <p:cNvPr id="19" name="Shape 17"/>
          <p:cNvSpPr/>
          <p:nvPr/>
        </p:nvSpPr>
        <p:spPr>
          <a:xfrm>
            <a:off x="548640" y="5029200"/>
            <a:ext cx="10881360" cy="1051560"/>
          </a:xfrm>
          <a:prstGeom prst="roundRect">
            <a:avLst>
              <a:gd name="adj" fmla="val 6957"/>
            </a:avLst>
          </a:prstGeom>
          <a:solidFill>
            <a:srgbClr val="E6F7F5"/>
          </a:solidFill>
          <a:ln/>
        </p:spPr>
      </p:sp>
      <p:sp>
        <p:nvSpPr>
          <p:cNvPr id="20" name="Text 18"/>
          <p:cNvSpPr/>
          <p:nvPr/>
        </p:nvSpPr>
        <p:spPr>
          <a:xfrm>
            <a:off x="822960" y="5029200"/>
            <a:ext cx="10332720" cy="1051560"/>
          </a:xfrm>
          <a:prstGeom prst="rect">
            <a:avLst/>
          </a:prstGeom>
          <a:noFill/>
          <a:ln/>
        </p:spPr>
        <p:txBody>
          <a:bodyPr wrap="square" lIns="0" tIns="0" rIns="0" bIns="0" rtlCol="0" anchor="ctr"/>
          <a:lstStyle/>
          <a:p>
            <a:pPr marL="0" indent="0">
              <a:lnSpc>
                <a:spcPct val="125000"/>
              </a:lnSpc>
              <a:buNone/>
            </a:pPr>
            <a:r>
              <a:rPr lang="en-US" sz="1350" i="1" dirty="0">
                <a:solidFill>
                  <a:srgbClr val="078F83"/>
                </a:solidFill>
                <a:latin typeface="Calibri" pitchFamily="34" charset="0"/>
                <a:ea typeface="Calibri" pitchFamily="34" charset="-122"/>
                <a:cs typeface="Calibri" pitchFamily="34" charset="-120"/>
              </a:rPr>
              <a:t>This dataset provides a clear picture of the current AI job market and helps in understanding industry trends.</a:t>
            </a:r>
            <a:endParaRPr lang="en-US" sz="1350" dirty="0"/>
          </a:p>
        </p:txBody>
      </p:sp>
      <p:sp>
        <p:nvSpPr>
          <p:cNvPr id="21" name="Text 19"/>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5B6B87"/>
                </a:solidFill>
                <a:latin typeface="Calibri" pitchFamily="34" charset="0"/>
                <a:ea typeface="Calibri" pitchFamily="34" charset="-122"/>
                <a:cs typeface="Calibri" pitchFamily="34" charset="-120"/>
              </a:rPr>
              <a:t>07</a:t>
            </a:r>
            <a:endParaRPr lang="en-US" sz="1000" dirty="0"/>
          </a:p>
        </p:txBody>
      </p:sp>
      <p:sp>
        <p:nvSpPr>
          <p:cNvPr id="22" name="Text 20"/>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A9B4C8"/>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78F83"/>
                </a:solidFill>
                <a:latin typeface="Calibri" pitchFamily="34" charset="0"/>
                <a:ea typeface="Calibri" pitchFamily="34" charset="-122"/>
                <a:cs typeface="Calibri" pitchFamily="34" charset="-120"/>
              </a:rPr>
              <a:t>08 — PIPELINE</a:t>
            </a:r>
            <a:endParaRPr lang="en-US" sz="1200" dirty="0"/>
          </a:p>
        </p:txBody>
      </p:sp>
      <p:sp>
        <p:nvSpPr>
          <p:cNvPr id="3" name="Text 1"/>
          <p:cNvSpPr/>
          <p:nvPr/>
        </p:nvSpPr>
        <p:spPr>
          <a:xfrm>
            <a:off x="548640" y="713232"/>
            <a:ext cx="8686800" cy="640080"/>
          </a:xfrm>
          <a:prstGeom prst="rect">
            <a:avLst/>
          </a:prstGeom>
          <a:noFill/>
          <a:ln/>
        </p:spPr>
        <p:txBody>
          <a:bodyPr wrap="square" lIns="0" tIns="0" rIns="0" bIns="0" rtlCol="0" anchor="ctr"/>
          <a:lstStyle/>
          <a:p>
            <a:pPr marL="0" indent="0">
              <a:buNone/>
            </a:pPr>
            <a:r>
              <a:rPr lang="en-US" sz="3000" b="1" dirty="0">
                <a:solidFill>
                  <a:srgbClr val="16213E"/>
                </a:solidFill>
                <a:latin typeface="Cambria" pitchFamily="34" charset="0"/>
                <a:ea typeface="Cambria" pitchFamily="34" charset="-122"/>
                <a:cs typeface="Cambria" pitchFamily="34" charset="-120"/>
              </a:rPr>
              <a:t>Data Preprocessing</a:t>
            </a:r>
            <a:endParaRPr lang="en-US" sz="3000" dirty="0"/>
          </a:p>
        </p:txBody>
      </p:sp>
      <p:sp>
        <p:nvSpPr>
          <p:cNvPr id="4" name="Text 2"/>
          <p:cNvSpPr/>
          <p:nvPr/>
        </p:nvSpPr>
        <p:spPr>
          <a:xfrm>
            <a:off x="548640" y="1371600"/>
            <a:ext cx="10881360" cy="548640"/>
          </a:xfrm>
          <a:prstGeom prst="rect">
            <a:avLst/>
          </a:prstGeom>
          <a:noFill/>
          <a:ln/>
        </p:spPr>
        <p:txBody>
          <a:bodyPr wrap="square" lIns="0" tIns="0" rIns="0" bIns="0" rtlCol="0" anchor="ctr"/>
          <a:lstStyle/>
          <a:p>
            <a:pPr marL="0" indent="0">
              <a:lnSpc>
                <a:spcPct val="125000"/>
              </a:lnSpc>
              <a:buNone/>
            </a:pPr>
            <a:r>
              <a:rPr lang="en-US" sz="1250" dirty="0">
                <a:solidFill>
                  <a:srgbClr val="5B6B87"/>
                </a:solidFill>
                <a:latin typeface="Calibri" pitchFamily="34" charset="0"/>
                <a:ea typeface="Calibri" pitchFamily="34" charset="-122"/>
                <a:cs typeface="Calibri" pitchFamily="34" charset="-120"/>
              </a:rPr>
              <a:t>Preprocessing ensures analytical validity and reproducibility. The pipeline followed these standard steps to prepare the dataset for analysis and modelling.</a:t>
            </a:r>
            <a:endParaRPr lang="en-US" sz="1250" dirty="0"/>
          </a:p>
        </p:txBody>
      </p:sp>
      <p:sp>
        <p:nvSpPr>
          <p:cNvPr id="5" name="Shape 3"/>
          <p:cNvSpPr/>
          <p:nvPr/>
        </p:nvSpPr>
        <p:spPr>
          <a:xfrm>
            <a:off x="548640" y="2148840"/>
            <a:ext cx="2084832" cy="3794760"/>
          </a:xfrm>
          <a:prstGeom prst="roundRect">
            <a:avLst>
              <a:gd name="adj" fmla="val 3509"/>
            </a:avLst>
          </a:prstGeom>
          <a:solidFill>
            <a:srgbClr val="FFFFFF"/>
          </a:solidFill>
          <a:ln/>
          <a:effectLst>
            <a:outerShdw blurRad="101600" dist="38100" dir="5400000" algn="bl" rotWithShape="0">
              <a:srgbClr val="1C2B4A">
                <a:alpha val="12000"/>
              </a:srgbClr>
            </a:outerShdw>
          </a:effectLst>
        </p:spPr>
      </p:sp>
      <p:sp>
        <p:nvSpPr>
          <p:cNvPr id="6" name="Shape 4"/>
          <p:cNvSpPr/>
          <p:nvPr/>
        </p:nvSpPr>
        <p:spPr>
          <a:xfrm>
            <a:off x="768096" y="2404872"/>
            <a:ext cx="365760" cy="365760"/>
          </a:xfrm>
          <a:prstGeom prst="ellipse">
            <a:avLst/>
          </a:prstGeom>
          <a:solidFill>
            <a:srgbClr val="00B8A9"/>
          </a:solidFill>
          <a:ln/>
        </p:spPr>
      </p:sp>
      <p:sp>
        <p:nvSpPr>
          <p:cNvPr id="7" name="Text 5"/>
          <p:cNvSpPr/>
          <p:nvPr/>
        </p:nvSpPr>
        <p:spPr>
          <a:xfrm>
            <a:off x="768096" y="24048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749808" y="2971800"/>
            <a:ext cx="1682496" cy="822960"/>
          </a:xfrm>
          <a:prstGeom prst="rect">
            <a:avLst/>
          </a:prstGeom>
          <a:noFill/>
          <a:ln/>
        </p:spPr>
        <p:txBody>
          <a:bodyPr wrap="square" lIns="0" tIns="0" rIns="0" bIns="0" rtlCol="0" anchor="ctr"/>
          <a:lstStyle/>
          <a:p>
            <a:pPr marL="0" indent="0">
              <a:lnSpc>
                <a:spcPct val="115000"/>
              </a:lnSpc>
              <a:buNone/>
            </a:pPr>
            <a:r>
              <a:rPr lang="en-US" sz="1300" b="1" dirty="0">
                <a:solidFill>
                  <a:srgbClr val="16213E"/>
                </a:solidFill>
                <a:latin typeface="Calibri" pitchFamily="34" charset="0"/>
                <a:ea typeface="Calibri" pitchFamily="34" charset="-122"/>
                <a:cs typeface="Calibri" pitchFamily="34" charset="-120"/>
              </a:rPr>
              <a:t>Explored the dataset</a:t>
            </a:r>
            <a:endParaRPr lang="en-US" sz="1300" dirty="0"/>
          </a:p>
        </p:txBody>
      </p:sp>
      <p:sp>
        <p:nvSpPr>
          <p:cNvPr id="9" name="Text 7"/>
          <p:cNvSpPr/>
          <p:nvPr/>
        </p:nvSpPr>
        <p:spPr>
          <a:xfrm>
            <a:off x="2615184" y="3845052"/>
            <a:ext cx="201168" cy="402336"/>
          </a:xfrm>
          <a:prstGeom prst="rect">
            <a:avLst/>
          </a:prstGeom>
          <a:noFill/>
          <a:ln/>
        </p:spPr>
        <p:txBody>
          <a:bodyPr wrap="square" lIns="0" tIns="0" rIns="0" bIns="0" rtlCol="0" anchor="ctr"/>
          <a:lstStyle/>
          <a:p>
            <a:pPr marL="0" indent="0" algn="ctr">
              <a:buNone/>
            </a:pPr>
            <a:r>
              <a:rPr lang="en-US" sz="1600" b="1" dirty="0">
                <a:solidFill>
                  <a:srgbClr val="C3CEE0"/>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798064" y="2148840"/>
            <a:ext cx="2084832" cy="3794760"/>
          </a:xfrm>
          <a:prstGeom prst="roundRect">
            <a:avLst>
              <a:gd name="adj" fmla="val 3509"/>
            </a:avLst>
          </a:prstGeom>
          <a:solidFill>
            <a:srgbClr val="FFFFFF"/>
          </a:solidFill>
          <a:ln/>
          <a:effectLst>
            <a:outerShdw blurRad="101600" dist="38100" dir="5400000" algn="bl" rotWithShape="0">
              <a:srgbClr val="1C2B4A">
                <a:alpha val="12000"/>
              </a:srgbClr>
            </a:outerShdw>
          </a:effectLst>
        </p:spPr>
      </p:sp>
      <p:sp>
        <p:nvSpPr>
          <p:cNvPr id="11" name="Shape 9"/>
          <p:cNvSpPr/>
          <p:nvPr/>
        </p:nvSpPr>
        <p:spPr>
          <a:xfrm>
            <a:off x="3017520" y="2404872"/>
            <a:ext cx="365760" cy="365760"/>
          </a:xfrm>
          <a:prstGeom prst="ellipse">
            <a:avLst/>
          </a:prstGeom>
          <a:solidFill>
            <a:srgbClr val="00B8A9"/>
          </a:solidFill>
          <a:ln/>
        </p:spPr>
      </p:sp>
      <p:sp>
        <p:nvSpPr>
          <p:cNvPr id="12" name="Text 10"/>
          <p:cNvSpPr/>
          <p:nvPr/>
        </p:nvSpPr>
        <p:spPr>
          <a:xfrm>
            <a:off x="3017520" y="24048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2999232" y="2971800"/>
            <a:ext cx="1682496" cy="822960"/>
          </a:xfrm>
          <a:prstGeom prst="rect">
            <a:avLst/>
          </a:prstGeom>
          <a:noFill/>
          <a:ln/>
        </p:spPr>
        <p:txBody>
          <a:bodyPr wrap="square" lIns="0" tIns="0" rIns="0" bIns="0" rtlCol="0" anchor="ctr"/>
          <a:lstStyle/>
          <a:p>
            <a:pPr marL="0" indent="0">
              <a:lnSpc>
                <a:spcPct val="115000"/>
              </a:lnSpc>
              <a:buNone/>
            </a:pPr>
            <a:r>
              <a:rPr lang="en-US" sz="1300" b="1" dirty="0">
                <a:solidFill>
                  <a:srgbClr val="16213E"/>
                </a:solidFill>
                <a:latin typeface="Calibri" pitchFamily="34" charset="0"/>
                <a:ea typeface="Calibri" pitchFamily="34" charset="-122"/>
                <a:cs typeface="Calibri" pitchFamily="34" charset="-120"/>
              </a:rPr>
              <a:t>Removed duplicates</a:t>
            </a:r>
            <a:endParaRPr lang="en-US" sz="1300" dirty="0"/>
          </a:p>
        </p:txBody>
      </p:sp>
      <p:sp>
        <p:nvSpPr>
          <p:cNvPr id="14" name="Text 12"/>
          <p:cNvSpPr/>
          <p:nvPr/>
        </p:nvSpPr>
        <p:spPr>
          <a:xfrm>
            <a:off x="2999232" y="3840480"/>
            <a:ext cx="1682496" cy="1920240"/>
          </a:xfrm>
          <a:prstGeom prst="rect">
            <a:avLst/>
          </a:prstGeom>
          <a:noFill/>
          <a:ln/>
        </p:spPr>
        <p:txBody>
          <a:bodyPr wrap="square" lIns="0" tIns="0" rIns="0" bIns="0" rtlCol="0" anchor="ctr"/>
          <a:lstStyle/>
          <a:p>
            <a:pPr marL="0" indent="0">
              <a:lnSpc>
                <a:spcPct val="125000"/>
              </a:lnSpc>
              <a:buNone/>
            </a:pPr>
            <a:r>
              <a:rPr lang="en-US" sz="1000" dirty="0">
                <a:solidFill>
                  <a:srgbClr val="5B6B87"/>
                </a:solidFill>
                <a:latin typeface="Calibri" pitchFamily="34" charset="0"/>
                <a:ea typeface="Calibri" pitchFamily="34" charset="-122"/>
                <a:cs typeface="Calibri" pitchFamily="34" charset="-120"/>
              </a:rPr>
              <a:t>Deduplicated by job title + company + posted date to avoid repeated listings skewing counts.</a:t>
            </a:r>
            <a:endParaRPr lang="en-US" sz="1000" dirty="0"/>
          </a:p>
        </p:txBody>
      </p:sp>
      <p:sp>
        <p:nvSpPr>
          <p:cNvPr id="15" name="Text 13"/>
          <p:cNvSpPr/>
          <p:nvPr/>
        </p:nvSpPr>
        <p:spPr>
          <a:xfrm>
            <a:off x="4864608" y="3845052"/>
            <a:ext cx="201168" cy="402336"/>
          </a:xfrm>
          <a:prstGeom prst="rect">
            <a:avLst/>
          </a:prstGeom>
          <a:noFill/>
          <a:ln/>
        </p:spPr>
        <p:txBody>
          <a:bodyPr wrap="square" lIns="0" tIns="0" rIns="0" bIns="0" rtlCol="0" anchor="ctr"/>
          <a:lstStyle/>
          <a:p>
            <a:pPr marL="0" indent="0" algn="ctr">
              <a:buNone/>
            </a:pPr>
            <a:r>
              <a:rPr lang="en-US" sz="1600" b="1" dirty="0">
                <a:solidFill>
                  <a:srgbClr val="C3CEE0"/>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5047488" y="2148840"/>
            <a:ext cx="2084832" cy="3794760"/>
          </a:xfrm>
          <a:prstGeom prst="roundRect">
            <a:avLst>
              <a:gd name="adj" fmla="val 3509"/>
            </a:avLst>
          </a:prstGeom>
          <a:solidFill>
            <a:srgbClr val="FFFFFF"/>
          </a:solidFill>
          <a:ln/>
          <a:effectLst>
            <a:outerShdw blurRad="101600" dist="38100" dir="5400000" algn="bl" rotWithShape="0">
              <a:srgbClr val="1C2B4A">
                <a:alpha val="12000"/>
              </a:srgbClr>
            </a:outerShdw>
          </a:effectLst>
        </p:spPr>
      </p:sp>
      <p:sp>
        <p:nvSpPr>
          <p:cNvPr id="17" name="Shape 15"/>
          <p:cNvSpPr/>
          <p:nvPr/>
        </p:nvSpPr>
        <p:spPr>
          <a:xfrm>
            <a:off x="5266944" y="2404872"/>
            <a:ext cx="365760" cy="365760"/>
          </a:xfrm>
          <a:prstGeom prst="ellipse">
            <a:avLst/>
          </a:prstGeom>
          <a:solidFill>
            <a:srgbClr val="00B8A9"/>
          </a:solidFill>
          <a:ln/>
        </p:spPr>
      </p:sp>
      <p:sp>
        <p:nvSpPr>
          <p:cNvPr id="18" name="Text 16"/>
          <p:cNvSpPr/>
          <p:nvPr/>
        </p:nvSpPr>
        <p:spPr>
          <a:xfrm>
            <a:off x="5266944" y="24048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5248656" y="2971800"/>
            <a:ext cx="1682496" cy="822960"/>
          </a:xfrm>
          <a:prstGeom prst="rect">
            <a:avLst/>
          </a:prstGeom>
          <a:noFill/>
          <a:ln/>
        </p:spPr>
        <p:txBody>
          <a:bodyPr wrap="square" lIns="0" tIns="0" rIns="0" bIns="0" rtlCol="0" anchor="ctr"/>
          <a:lstStyle/>
          <a:p>
            <a:pPr marL="0" indent="0">
              <a:lnSpc>
                <a:spcPct val="115000"/>
              </a:lnSpc>
              <a:buNone/>
            </a:pPr>
            <a:r>
              <a:rPr lang="en-US" sz="1300" b="1" dirty="0">
                <a:solidFill>
                  <a:srgbClr val="16213E"/>
                </a:solidFill>
                <a:latin typeface="Calibri" pitchFamily="34" charset="0"/>
                <a:ea typeface="Calibri" pitchFamily="34" charset="-122"/>
                <a:cs typeface="Calibri" pitchFamily="34" charset="-120"/>
              </a:rPr>
              <a:t>Checked data types &amp; conversions</a:t>
            </a:r>
            <a:endParaRPr lang="en-US" sz="1300" dirty="0"/>
          </a:p>
        </p:txBody>
      </p:sp>
      <p:sp>
        <p:nvSpPr>
          <p:cNvPr id="20" name="Text 18"/>
          <p:cNvSpPr/>
          <p:nvPr/>
        </p:nvSpPr>
        <p:spPr>
          <a:xfrm>
            <a:off x="5248656" y="3840480"/>
            <a:ext cx="1682496" cy="1920240"/>
          </a:xfrm>
          <a:prstGeom prst="rect">
            <a:avLst/>
          </a:prstGeom>
          <a:noFill/>
          <a:ln/>
        </p:spPr>
        <p:txBody>
          <a:bodyPr wrap="square" lIns="0" tIns="0" rIns="0" bIns="0" rtlCol="0" anchor="ctr"/>
          <a:lstStyle/>
          <a:p>
            <a:pPr marL="0" indent="0">
              <a:lnSpc>
                <a:spcPct val="125000"/>
              </a:lnSpc>
              <a:buNone/>
            </a:pPr>
            <a:r>
              <a:rPr lang="en-US" sz="1000" dirty="0">
                <a:solidFill>
                  <a:srgbClr val="5B6B87"/>
                </a:solidFill>
                <a:latin typeface="Calibri" pitchFamily="34" charset="0"/>
                <a:ea typeface="Calibri" pitchFamily="34" charset="-122"/>
                <a:cs typeface="Calibri" pitchFamily="34" charset="-120"/>
              </a:rPr>
              <a:t>Converted salary ranges to numeric fields (min, max, median), parsed dates, and normalized location strings.</a:t>
            </a:r>
            <a:endParaRPr lang="en-US" sz="1000" dirty="0"/>
          </a:p>
        </p:txBody>
      </p:sp>
      <p:sp>
        <p:nvSpPr>
          <p:cNvPr id="21" name="Text 19"/>
          <p:cNvSpPr/>
          <p:nvPr/>
        </p:nvSpPr>
        <p:spPr>
          <a:xfrm>
            <a:off x="7114032" y="3845052"/>
            <a:ext cx="201168" cy="402336"/>
          </a:xfrm>
          <a:prstGeom prst="rect">
            <a:avLst/>
          </a:prstGeom>
          <a:noFill/>
          <a:ln/>
        </p:spPr>
        <p:txBody>
          <a:bodyPr wrap="square" lIns="0" tIns="0" rIns="0" bIns="0" rtlCol="0" anchor="ctr"/>
          <a:lstStyle/>
          <a:p>
            <a:pPr marL="0" indent="0" algn="ctr">
              <a:buNone/>
            </a:pPr>
            <a:r>
              <a:rPr lang="en-US" sz="1600" b="1" dirty="0">
                <a:solidFill>
                  <a:srgbClr val="C3CEE0"/>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7296912" y="2148840"/>
            <a:ext cx="2084832" cy="3794760"/>
          </a:xfrm>
          <a:prstGeom prst="roundRect">
            <a:avLst>
              <a:gd name="adj" fmla="val 3509"/>
            </a:avLst>
          </a:prstGeom>
          <a:solidFill>
            <a:srgbClr val="FFFFFF"/>
          </a:solidFill>
          <a:ln/>
          <a:effectLst>
            <a:outerShdw blurRad="101600" dist="38100" dir="5400000" algn="bl" rotWithShape="0">
              <a:srgbClr val="1C2B4A">
                <a:alpha val="12000"/>
              </a:srgbClr>
            </a:outerShdw>
          </a:effectLst>
        </p:spPr>
      </p:sp>
      <p:sp>
        <p:nvSpPr>
          <p:cNvPr id="23" name="Shape 21"/>
          <p:cNvSpPr/>
          <p:nvPr/>
        </p:nvSpPr>
        <p:spPr>
          <a:xfrm>
            <a:off x="7516368" y="2404872"/>
            <a:ext cx="365760" cy="365760"/>
          </a:xfrm>
          <a:prstGeom prst="ellipse">
            <a:avLst/>
          </a:prstGeom>
          <a:solidFill>
            <a:srgbClr val="00B8A9"/>
          </a:solidFill>
          <a:ln/>
        </p:spPr>
      </p:sp>
      <p:sp>
        <p:nvSpPr>
          <p:cNvPr id="24" name="Text 22"/>
          <p:cNvSpPr/>
          <p:nvPr/>
        </p:nvSpPr>
        <p:spPr>
          <a:xfrm>
            <a:off x="7516368" y="24048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7498080" y="2971800"/>
            <a:ext cx="1682496" cy="822960"/>
          </a:xfrm>
          <a:prstGeom prst="rect">
            <a:avLst/>
          </a:prstGeom>
          <a:noFill/>
          <a:ln/>
        </p:spPr>
        <p:txBody>
          <a:bodyPr wrap="square" lIns="0" tIns="0" rIns="0" bIns="0" rtlCol="0" anchor="ctr"/>
          <a:lstStyle/>
          <a:p>
            <a:pPr marL="0" indent="0">
              <a:lnSpc>
                <a:spcPct val="115000"/>
              </a:lnSpc>
              <a:buNone/>
            </a:pPr>
            <a:r>
              <a:rPr lang="en-US" sz="1300" b="1" dirty="0">
                <a:solidFill>
                  <a:srgbClr val="16213E"/>
                </a:solidFill>
                <a:latin typeface="Calibri" pitchFamily="34" charset="0"/>
                <a:ea typeface="Calibri" pitchFamily="34" charset="-122"/>
                <a:cs typeface="Calibri" pitchFamily="34" charset="-120"/>
              </a:rPr>
              <a:t>Handled missing values</a:t>
            </a:r>
            <a:endParaRPr lang="en-US" sz="1300" dirty="0"/>
          </a:p>
        </p:txBody>
      </p:sp>
      <p:sp>
        <p:nvSpPr>
          <p:cNvPr id="26" name="Text 24"/>
          <p:cNvSpPr/>
          <p:nvPr/>
        </p:nvSpPr>
        <p:spPr>
          <a:xfrm>
            <a:off x="7498080" y="3840480"/>
            <a:ext cx="1682496" cy="1920240"/>
          </a:xfrm>
          <a:prstGeom prst="rect">
            <a:avLst/>
          </a:prstGeom>
          <a:noFill/>
          <a:ln/>
        </p:spPr>
        <p:txBody>
          <a:bodyPr wrap="square" lIns="0" tIns="0" rIns="0" bIns="0" rtlCol="0" anchor="ctr"/>
          <a:lstStyle/>
          <a:p>
            <a:pPr marL="0" indent="0">
              <a:lnSpc>
                <a:spcPct val="125000"/>
              </a:lnSpc>
              <a:buNone/>
            </a:pPr>
            <a:r>
              <a:rPr lang="en-US" sz="1000" dirty="0">
                <a:solidFill>
                  <a:srgbClr val="5B6B87"/>
                </a:solidFill>
                <a:latin typeface="Calibri" pitchFamily="34" charset="0"/>
                <a:ea typeface="Calibri" pitchFamily="34" charset="-122"/>
                <a:cs typeface="Calibri" pitchFamily="34" charset="-120"/>
              </a:rPr>
              <a:t>Imputed or flagged missing salaries, locations, and experience fields. Kept a “missing” category for categorical analysis when appropriate.</a:t>
            </a:r>
            <a:endParaRPr lang="en-US" sz="1000" dirty="0"/>
          </a:p>
        </p:txBody>
      </p:sp>
      <p:sp>
        <p:nvSpPr>
          <p:cNvPr id="27" name="Text 25"/>
          <p:cNvSpPr/>
          <p:nvPr/>
        </p:nvSpPr>
        <p:spPr>
          <a:xfrm>
            <a:off x="9363456" y="3845052"/>
            <a:ext cx="201168" cy="402336"/>
          </a:xfrm>
          <a:prstGeom prst="rect">
            <a:avLst/>
          </a:prstGeom>
          <a:noFill/>
          <a:ln/>
        </p:spPr>
        <p:txBody>
          <a:bodyPr wrap="square" lIns="0" tIns="0" rIns="0" bIns="0" rtlCol="0" anchor="ctr"/>
          <a:lstStyle/>
          <a:p>
            <a:pPr marL="0" indent="0" algn="ctr">
              <a:buNone/>
            </a:pPr>
            <a:r>
              <a:rPr lang="en-US" sz="1600" b="1" dirty="0">
                <a:solidFill>
                  <a:srgbClr val="C3CEE0"/>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9546336" y="2148840"/>
            <a:ext cx="2084832" cy="3794760"/>
          </a:xfrm>
          <a:prstGeom prst="roundRect">
            <a:avLst>
              <a:gd name="adj" fmla="val 3509"/>
            </a:avLst>
          </a:prstGeom>
          <a:solidFill>
            <a:srgbClr val="FFFFFF"/>
          </a:solidFill>
          <a:ln/>
          <a:effectLst>
            <a:outerShdw blurRad="101600" dist="38100" dir="5400000" algn="bl" rotWithShape="0">
              <a:srgbClr val="1C2B4A">
                <a:alpha val="12000"/>
              </a:srgbClr>
            </a:outerShdw>
          </a:effectLst>
        </p:spPr>
      </p:sp>
      <p:sp>
        <p:nvSpPr>
          <p:cNvPr id="29" name="Shape 27"/>
          <p:cNvSpPr/>
          <p:nvPr/>
        </p:nvSpPr>
        <p:spPr>
          <a:xfrm>
            <a:off x="9765792" y="2404872"/>
            <a:ext cx="365760" cy="365760"/>
          </a:xfrm>
          <a:prstGeom prst="ellipse">
            <a:avLst/>
          </a:prstGeom>
          <a:solidFill>
            <a:srgbClr val="00B8A9"/>
          </a:solidFill>
          <a:ln/>
        </p:spPr>
      </p:sp>
      <p:sp>
        <p:nvSpPr>
          <p:cNvPr id="30" name="Text 28"/>
          <p:cNvSpPr/>
          <p:nvPr/>
        </p:nvSpPr>
        <p:spPr>
          <a:xfrm>
            <a:off x="9765792" y="24048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9747504" y="2971800"/>
            <a:ext cx="1682496" cy="822960"/>
          </a:xfrm>
          <a:prstGeom prst="rect">
            <a:avLst/>
          </a:prstGeom>
          <a:noFill/>
          <a:ln/>
        </p:spPr>
        <p:txBody>
          <a:bodyPr wrap="square" lIns="0" tIns="0" rIns="0" bIns="0" rtlCol="0" anchor="ctr"/>
          <a:lstStyle/>
          <a:p>
            <a:pPr marL="0" indent="0">
              <a:lnSpc>
                <a:spcPct val="115000"/>
              </a:lnSpc>
              <a:buNone/>
            </a:pPr>
            <a:r>
              <a:rPr lang="en-US" sz="1300" b="1" dirty="0">
                <a:solidFill>
                  <a:srgbClr val="16213E"/>
                </a:solidFill>
                <a:latin typeface="Calibri" pitchFamily="34" charset="0"/>
                <a:ea typeface="Calibri" pitchFamily="34" charset="-122"/>
                <a:cs typeface="Calibri" pitchFamily="34" charset="-120"/>
              </a:rPr>
              <a:t>Cleaned inconsistent data</a:t>
            </a:r>
            <a:endParaRPr lang="en-US" sz="1300" dirty="0"/>
          </a:p>
        </p:txBody>
      </p:sp>
      <p:sp>
        <p:nvSpPr>
          <p:cNvPr id="32" name="Text 30"/>
          <p:cNvSpPr/>
          <p:nvPr/>
        </p:nvSpPr>
        <p:spPr>
          <a:xfrm>
            <a:off x="9747504" y="3840480"/>
            <a:ext cx="1682496" cy="1920240"/>
          </a:xfrm>
          <a:prstGeom prst="rect">
            <a:avLst/>
          </a:prstGeom>
          <a:noFill/>
          <a:ln/>
        </p:spPr>
        <p:txBody>
          <a:bodyPr wrap="square" lIns="0" tIns="0" rIns="0" bIns="0" rtlCol="0" anchor="ctr"/>
          <a:lstStyle/>
          <a:p>
            <a:pPr marL="0" indent="0">
              <a:lnSpc>
                <a:spcPct val="125000"/>
              </a:lnSpc>
              <a:buNone/>
            </a:pPr>
            <a:r>
              <a:rPr lang="en-US" sz="1000" dirty="0">
                <a:solidFill>
                  <a:srgbClr val="5B6B87"/>
                </a:solidFill>
                <a:latin typeface="Calibri" pitchFamily="34" charset="0"/>
                <a:ea typeface="Calibri" pitchFamily="34" charset="-122"/>
                <a:cs typeface="Calibri" pitchFamily="34" charset="-120"/>
              </a:rPr>
              <a:t>Normalized skills and titles (e.g., “ML Engineer” vs. “Machine Learning Engineer”), standardized country names, and tokenized skills lists for aggregation.</a:t>
            </a:r>
            <a:endParaRPr lang="en-US" sz="1000" dirty="0"/>
          </a:p>
        </p:txBody>
      </p:sp>
      <p:sp>
        <p:nvSpPr>
          <p:cNvPr id="33" name="Text 31"/>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5B6B87"/>
                </a:solidFill>
                <a:latin typeface="Calibri" pitchFamily="34" charset="0"/>
                <a:ea typeface="Calibri" pitchFamily="34" charset="-122"/>
                <a:cs typeface="Calibri" pitchFamily="34" charset="-120"/>
              </a:rPr>
              <a:t>08</a:t>
            </a:r>
            <a:endParaRPr lang="en-US" sz="1000" dirty="0"/>
          </a:p>
        </p:txBody>
      </p:sp>
      <p:sp>
        <p:nvSpPr>
          <p:cNvPr id="34" name="Text 32"/>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A9B4C8"/>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78F83"/>
                </a:solidFill>
                <a:latin typeface="Calibri" pitchFamily="34" charset="0"/>
                <a:ea typeface="Calibri" pitchFamily="34" charset="-122"/>
                <a:cs typeface="Calibri" pitchFamily="34" charset="-120"/>
              </a:rPr>
              <a:t>09 — STACK</a:t>
            </a:r>
            <a:endParaRPr lang="en-US" sz="1200" dirty="0"/>
          </a:p>
        </p:txBody>
      </p:sp>
      <p:sp>
        <p:nvSpPr>
          <p:cNvPr id="3" name="Text 1"/>
          <p:cNvSpPr/>
          <p:nvPr/>
        </p:nvSpPr>
        <p:spPr>
          <a:xfrm>
            <a:off x="548640" y="713232"/>
            <a:ext cx="8686800" cy="640080"/>
          </a:xfrm>
          <a:prstGeom prst="rect">
            <a:avLst/>
          </a:prstGeom>
          <a:noFill/>
          <a:ln/>
        </p:spPr>
        <p:txBody>
          <a:bodyPr wrap="square" lIns="0" tIns="0" rIns="0" bIns="0" rtlCol="0" anchor="ctr"/>
          <a:lstStyle/>
          <a:p>
            <a:pPr marL="0" indent="0">
              <a:buNone/>
            </a:pPr>
            <a:r>
              <a:rPr lang="en-US" sz="3000" b="1" dirty="0">
                <a:solidFill>
                  <a:srgbClr val="16213E"/>
                </a:solidFill>
                <a:latin typeface="Cambria" pitchFamily="34" charset="0"/>
                <a:ea typeface="Cambria" pitchFamily="34" charset="-122"/>
                <a:cs typeface="Cambria" pitchFamily="34" charset="-120"/>
              </a:rPr>
              <a:t>Technologies &amp; Tools Used</a:t>
            </a:r>
            <a:endParaRPr lang="en-US" sz="3000" dirty="0"/>
          </a:p>
        </p:txBody>
      </p:sp>
      <p:sp>
        <p:nvSpPr>
          <p:cNvPr id="4" name="Text 2"/>
          <p:cNvSpPr/>
          <p:nvPr/>
        </p:nvSpPr>
        <p:spPr>
          <a:xfrm>
            <a:off x="548640" y="1371600"/>
            <a:ext cx="10881360" cy="457200"/>
          </a:xfrm>
          <a:prstGeom prst="rect">
            <a:avLst/>
          </a:prstGeom>
          <a:noFill/>
          <a:ln/>
        </p:spPr>
        <p:txBody>
          <a:bodyPr wrap="square" lIns="0" tIns="0" rIns="0" bIns="0" rtlCol="0" anchor="ctr"/>
          <a:lstStyle/>
          <a:p>
            <a:pPr marL="0" indent="0">
              <a:buNone/>
            </a:pPr>
            <a:r>
              <a:rPr lang="en-US" sz="1250" dirty="0">
                <a:solidFill>
                  <a:srgbClr val="5B6B87"/>
                </a:solidFill>
                <a:latin typeface="Calibri" pitchFamily="34" charset="0"/>
                <a:ea typeface="Calibri" pitchFamily="34" charset="-122"/>
                <a:cs typeface="Calibri" pitchFamily="34" charset="-120"/>
              </a:rPr>
              <a:t>We used a modern Python data science stack to load, clean, analyze, and visualize the AI job dataset.</a:t>
            </a:r>
            <a:endParaRPr lang="en-US" sz="1250" dirty="0"/>
          </a:p>
        </p:txBody>
      </p:sp>
      <p:sp>
        <p:nvSpPr>
          <p:cNvPr id="5" name="Shape 3"/>
          <p:cNvSpPr/>
          <p:nvPr/>
        </p:nvSpPr>
        <p:spPr>
          <a:xfrm>
            <a:off x="548640" y="1965960"/>
            <a:ext cx="2606040" cy="1783080"/>
          </a:xfrm>
          <a:prstGeom prst="roundRect">
            <a:avLst>
              <a:gd name="adj" fmla="val 4103"/>
            </a:avLst>
          </a:prstGeom>
          <a:solidFill>
            <a:srgbClr val="FFFFFF"/>
          </a:solidFill>
          <a:ln/>
          <a:effectLst>
            <a:outerShdw blurRad="76200" dist="25400" dir="5400000" algn="bl" rotWithShape="0">
              <a:srgbClr val="1C2B4A">
                <a:alpha val="10000"/>
              </a:srgbClr>
            </a:outerShdw>
          </a:effectLst>
        </p:spPr>
      </p:sp>
      <p:sp>
        <p:nvSpPr>
          <p:cNvPr id="6" name="Shape 4"/>
          <p:cNvSpPr/>
          <p:nvPr/>
        </p:nvSpPr>
        <p:spPr>
          <a:xfrm>
            <a:off x="731520" y="2148840"/>
            <a:ext cx="457200" cy="457200"/>
          </a:xfrm>
          <a:prstGeom prst="roundRect">
            <a:avLst>
              <a:gd name="adj" fmla="val 50000"/>
            </a:avLst>
          </a:prstGeom>
          <a:solidFill>
            <a:srgbClr val="E6F7F5"/>
          </a:solidFill>
          <a:ln/>
        </p:spPr>
      </p:sp>
      <p:sp>
        <p:nvSpPr>
          <p:cNvPr id="7" name="Text 5"/>
          <p:cNvSpPr/>
          <p:nvPr/>
        </p:nvSpPr>
        <p:spPr>
          <a:xfrm>
            <a:off x="731520" y="2148840"/>
            <a:ext cx="457200" cy="457200"/>
          </a:xfrm>
          <a:prstGeom prst="rect">
            <a:avLst/>
          </a:prstGeom>
          <a:noFill/>
          <a:ln/>
        </p:spPr>
        <p:txBody>
          <a:bodyPr wrap="square" lIns="0" tIns="0" rIns="0" bIns="0" rtlCol="0" anchor="ctr"/>
          <a:lstStyle/>
          <a:p>
            <a:pPr marL="0" indent="0" algn="ctr">
              <a:buNone/>
            </a:pPr>
            <a:r>
              <a:rPr lang="en-US" sz="1300" b="1" dirty="0">
                <a:solidFill>
                  <a:srgbClr val="078F83"/>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731520" y="2715768"/>
            <a:ext cx="2240280" cy="365760"/>
          </a:xfrm>
          <a:prstGeom prst="rect">
            <a:avLst/>
          </a:prstGeom>
          <a:noFill/>
          <a:ln/>
        </p:spPr>
        <p:txBody>
          <a:bodyPr wrap="square" lIns="0" tIns="0" rIns="0" bIns="0"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Python</a:t>
            </a:r>
            <a:endParaRPr lang="en-US" sz="1300" dirty="0"/>
          </a:p>
        </p:txBody>
      </p:sp>
      <p:sp>
        <p:nvSpPr>
          <p:cNvPr id="9" name="Text 7"/>
          <p:cNvSpPr/>
          <p:nvPr/>
        </p:nvSpPr>
        <p:spPr>
          <a:xfrm>
            <a:off x="731520" y="3063240"/>
            <a:ext cx="2240280" cy="621792"/>
          </a:xfrm>
          <a:prstGeom prst="rect">
            <a:avLst/>
          </a:prstGeom>
          <a:noFill/>
          <a:ln/>
        </p:spPr>
        <p:txBody>
          <a:bodyPr wrap="square" lIns="0" tIns="0" rIns="0" bIns="0" rtlCol="0" anchor="ctr"/>
          <a:lstStyle/>
          <a:p>
            <a:pPr marL="0" indent="0">
              <a:lnSpc>
                <a:spcPct val="120000"/>
              </a:lnSpc>
              <a:buNone/>
            </a:pPr>
            <a:r>
              <a:rPr lang="en-US" sz="950" dirty="0">
                <a:solidFill>
                  <a:srgbClr val="5B6B87"/>
                </a:solidFill>
                <a:latin typeface="Calibri" pitchFamily="34" charset="0"/>
                <a:ea typeface="Calibri" pitchFamily="34" charset="-122"/>
                <a:cs typeface="Calibri" pitchFamily="34" charset="-120"/>
              </a:rPr>
              <a:t>Primary language for data processing, scripting, and automation</a:t>
            </a:r>
            <a:endParaRPr lang="en-US" sz="950" dirty="0"/>
          </a:p>
        </p:txBody>
      </p:sp>
      <p:sp>
        <p:nvSpPr>
          <p:cNvPr id="10" name="Shape 8"/>
          <p:cNvSpPr/>
          <p:nvPr/>
        </p:nvSpPr>
        <p:spPr>
          <a:xfrm>
            <a:off x="3264408" y="1965960"/>
            <a:ext cx="2606040" cy="1783080"/>
          </a:xfrm>
          <a:prstGeom prst="roundRect">
            <a:avLst>
              <a:gd name="adj" fmla="val 4103"/>
            </a:avLst>
          </a:prstGeom>
          <a:solidFill>
            <a:srgbClr val="FFFFFF"/>
          </a:solidFill>
          <a:ln/>
          <a:effectLst>
            <a:outerShdw blurRad="76200" dist="25400" dir="5400000" algn="bl" rotWithShape="0">
              <a:srgbClr val="1C2B4A">
                <a:alpha val="10000"/>
              </a:srgbClr>
            </a:outerShdw>
          </a:effectLst>
        </p:spPr>
      </p:sp>
      <p:sp>
        <p:nvSpPr>
          <p:cNvPr id="11" name="Shape 9"/>
          <p:cNvSpPr/>
          <p:nvPr/>
        </p:nvSpPr>
        <p:spPr>
          <a:xfrm>
            <a:off x="3447288" y="2148840"/>
            <a:ext cx="457200" cy="457200"/>
          </a:xfrm>
          <a:prstGeom prst="roundRect">
            <a:avLst>
              <a:gd name="adj" fmla="val 50000"/>
            </a:avLst>
          </a:prstGeom>
          <a:solidFill>
            <a:srgbClr val="E6F7F5"/>
          </a:solidFill>
          <a:ln/>
        </p:spPr>
      </p:sp>
      <p:sp>
        <p:nvSpPr>
          <p:cNvPr id="12" name="Text 10"/>
          <p:cNvSpPr/>
          <p:nvPr/>
        </p:nvSpPr>
        <p:spPr>
          <a:xfrm>
            <a:off x="3447288" y="2148840"/>
            <a:ext cx="457200" cy="457200"/>
          </a:xfrm>
          <a:prstGeom prst="rect">
            <a:avLst/>
          </a:prstGeom>
          <a:noFill/>
          <a:ln/>
        </p:spPr>
        <p:txBody>
          <a:bodyPr wrap="square" lIns="0" tIns="0" rIns="0" bIns="0" rtlCol="0" anchor="ctr"/>
          <a:lstStyle/>
          <a:p>
            <a:pPr marL="0" indent="0" algn="ctr">
              <a:buNone/>
            </a:pPr>
            <a:r>
              <a:rPr lang="en-US" sz="1300" b="1" dirty="0">
                <a:solidFill>
                  <a:srgbClr val="078F83"/>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447288" y="2715768"/>
            <a:ext cx="2240280" cy="365760"/>
          </a:xfrm>
          <a:prstGeom prst="rect">
            <a:avLst/>
          </a:prstGeom>
          <a:noFill/>
          <a:ln/>
        </p:spPr>
        <p:txBody>
          <a:bodyPr wrap="square" lIns="0" tIns="0" rIns="0" bIns="0"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Jupyter Notebook</a:t>
            </a:r>
            <a:endParaRPr lang="en-US" sz="1300" dirty="0"/>
          </a:p>
        </p:txBody>
      </p:sp>
      <p:sp>
        <p:nvSpPr>
          <p:cNvPr id="14" name="Text 12"/>
          <p:cNvSpPr/>
          <p:nvPr/>
        </p:nvSpPr>
        <p:spPr>
          <a:xfrm>
            <a:off x="3447288" y="3063240"/>
            <a:ext cx="2240280" cy="621792"/>
          </a:xfrm>
          <a:prstGeom prst="rect">
            <a:avLst/>
          </a:prstGeom>
          <a:noFill/>
          <a:ln/>
        </p:spPr>
        <p:txBody>
          <a:bodyPr wrap="square" lIns="0" tIns="0" rIns="0" bIns="0" rtlCol="0" anchor="ctr"/>
          <a:lstStyle/>
          <a:p>
            <a:pPr marL="0" indent="0">
              <a:lnSpc>
                <a:spcPct val="120000"/>
              </a:lnSpc>
              <a:buNone/>
            </a:pPr>
            <a:r>
              <a:rPr lang="en-US" sz="950" dirty="0">
                <a:solidFill>
                  <a:srgbClr val="5B6B87"/>
                </a:solidFill>
                <a:latin typeface="Calibri" pitchFamily="34" charset="0"/>
                <a:ea typeface="Calibri" pitchFamily="34" charset="-122"/>
                <a:cs typeface="Calibri" pitchFamily="34" charset="-120"/>
              </a:rPr>
              <a:t>Reproducible analysis, annotated code, and iterative visual exploration.</a:t>
            </a:r>
            <a:endParaRPr lang="en-US" sz="950" dirty="0"/>
          </a:p>
        </p:txBody>
      </p:sp>
      <p:sp>
        <p:nvSpPr>
          <p:cNvPr id="15" name="Shape 13"/>
          <p:cNvSpPr/>
          <p:nvPr/>
        </p:nvSpPr>
        <p:spPr>
          <a:xfrm>
            <a:off x="5980176" y="1965960"/>
            <a:ext cx="2606040" cy="1783080"/>
          </a:xfrm>
          <a:prstGeom prst="roundRect">
            <a:avLst>
              <a:gd name="adj" fmla="val 4103"/>
            </a:avLst>
          </a:prstGeom>
          <a:solidFill>
            <a:srgbClr val="FFFFFF"/>
          </a:solidFill>
          <a:ln/>
          <a:effectLst>
            <a:outerShdw blurRad="76200" dist="25400" dir="5400000" algn="bl" rotWithShape="0">
              <a:srgbClr val="1C2B4A">
                <a:alpha val="10000"/>
              </a:srgbClr>
            </a:outerShdw>
          </a:effectLst>
        </p:spPr>
      </p:sp>
      <p:sp>
        <p:nvSpPr>
          <p:cNvPr id="16" name="Shape 14"/>
          <p:cNvSpPr/>
          <p:nvPr/>
        </p:nvSpPr>
        <p:spPr>
          <a:xfrm>
            <a:off x="6163056" y="2148840"/>
            <a:ext cx="457200" cy="457200"/>
          </a:xfrm>
          <a:prstGeom prst="roundRect">
            <a:avLst>
              <a:gd name="adj" fmla="val 50000"/>
            </a:avLst>
          </a:prstGeom>
          <a:solidFill>
            <a:srgbClr val="E6F7F5"/>
          </a:solidFill>
          <a:ln/>
        </p:spPr>
      </p:sp>
      <p:sp>
        <p:nvSpPr>
          <p:cNvPr id="17" name="Text 15"/>
          <p:cNvSpPr/>
          <p:nvPr/>
        </p:nvSpPr>
        <p:spPr>
          <a:xfrm>
            <a:off x="6163056" y="2148840"/>
            <a:ext cx="457200" cy="457200"/>
          </a:xfrm>
          <a:prstGeom prst="rect">
            <a:avLst/>
          </a:prstGeom>
          <a:noFill/>
          <a:ln/>
        </p:spPr>
        <p:txBody>
          <a:bodyPr wrap="square" lIns="0" tIns="0" rIns="0" bIns="0" rtlCol="0" anchor="ctr"/>
          <a:lstStyle/>
          <a:p>
            <a:pPr marL="0" indent="0" algn="ctr">
              <a:buNone/>
            </a:pPr>
            <a:r>
              <a:rPr lang="en-US" sz="1300" b="1" dirty="0">
                <a:solidFill>
                  <a:srgbClr val="078F83"/>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163056" y="2715768"/>
            <a:ext cx="2240280" cy="365760"/>
          </a:xfrm>
          <a:prstGeom prst="rect">
            <a:avLst/>
          </a:prstGeom>
          <a:noFill/>
          <a:ln/>
        </p:spPr>
        <p:txBody>
          <a:bodyPr wrap="square" lIns="0" tIns="0" rIns="0" bIns="0"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Numpy</a:t>
            </a:r>
            <a:endParaRPr lang="en-US" sz="1300" dirty="0"/>
          </a:p>
        </p:txBody>
      </p:sp>
      <p:sp>
        <p:nvSpPr>
          <p:cNvPr id="19" name="Text 17"/>
          <p:cNvSpPr/>
          <p:nvPr/>
        </p:nvSpPr>
        <p:spPr>
          <a:xfrm>
            <a:off x="6163056" y="3063240"/>
            <a:ext cx="2240280" cy="621792"/>
          </a:xfrm>
          <a:prstGeom prst="rect">
            <a:avLst/>
          </a:prstGeom>
          <a:noFill/>
          <a:ln/>
        </p:spPr>
        <p:txBody>
          <a:bodyPr wrap="square" lIns="0" tIns="0" rIns="0" bIns="0" rtlCol="0" anchor="ctr"/>
          <a:lstStyle/>
          <a:p>
            <a:pPr marL="0" indent="0">
              <a:lnSpc>
                <a:spcPct val="120000"/>
              </a:lnSpc>
              <a:buNone/>
            </a:pPr>
            <a:r>
              <a:rPr lang="en-US" sz="950" dirty="0">
                <a:solidFill>
                  <a:srgbClr val="5B6B87"/>
                </a:solidFill>
                <a:latin typeface="Calibri" pitchFamily="34" charset="0"/>
                <a:ea typeface="Calibri" pitchFamily="34" charset="-122"/>
                <a:cs typeface="Calibri" pitchFamily="34" charset="-120"/>
              </a:rPr>
              <a:t>Numerical operations and efficient array processing</a:t>
            </a:r>
            <a:endParaRPr lang="en-US" sz="950" dirty="0"/>
          </a:p>
        </p:txBody>
      </p:sp>
      <p:sp>
        <p:nvSpPr>
          <p:cNvPr id="20" name="Shape 18"/>
          <p:cNvSpPr/>
          <p:nvPr/>
        </p:nvSpPr>
        <p:spPr>
          <a:xfrm>
            <a:off x="8695944" y="1965960"/>
            <a:ext cx="2606040" cy="1783080"/>
          </a:xfrm>
          <a:prstGeom prst="roundRect">
            <a:avLst>
              <a:gd name="adj" fmla="val 4103"/>
            </a:avLst>
          </a:prstGeom>
          <a:solidFill>
            <a:srgbClr val="FFFFFF"/>
          </a:solidFill>
          <a:ln/>
          <a:effectLst>
            <a:outerShdw blurRad="76200" dist="25400" dir="5400000" algn="bl" rotWithShape="0">
              <a:srgbClr val="1C2B4A">
                <a:alpha val="10000"/>
              </a:srgbClr>
            </a:outerShdw>
          </a:effectLst>
        </p:spPr>
      </p:sp>
      <p:sp>
        <p:nvSpPr>
          <p:cNvPr id="21" name="Shape 19"/>
          <p:cNvSpPr/>
          <p:nvPr/>
        </p:nvSpPr>
        <p:spPr>
          <a:xfrm>
            <a:off x="8878824" y="2148840"/>
            <a:ext cx="457200" cy="457200"/>
          </a:xfrm>
          <a:prstGeom prst="roundRect">
            <a:avLst>
              <a:gd name="adj" fmla="val 50000"/>
            </a:avLst>
          </a:prstGeom>
          <a:solidFill>
            <a:srgbClr val="E6F7F5"/>
          </a:solidFill>
          <a:ln/>
        </p:spPr>
      </p:sp>
      <p:sp>
        <p:nvSpPr>
          <p:cNvPr id="22" name="Text 20"/>
          <p:cNvSpPr/>
          <p:nvPr/>
        </p:nvSpPr>
        <p:spPr>
          <a:xfrm>
            <a:off x="8878824" y="2148840"/>
            <a:ext cx="457200" cy="457200"/>
          </a:xfrm>
          <a:prstGeom prst="rect">
            <a:avLst/>
          </a:prstGeom>
          <a:noFill/>
          <a:ln/>
        </p:spPr>
        <p:txBody>
          <a:bodyPr wrap="square" lIns="0" tIns="0" rIns="0" bIns="0" rtlCol="0" anchor="ctr"/>
          <a:lstStyle/>
          <a:p>
            <a:pPr marL="0" indent="0" algn="ctr">
              <a:buNone/>
            </a:pPr>
            <a:r>
              <a:rPr lang="en-US" sz="1300" b="1" dirty="0">
                <a:solidFill>
                  <a:srgbClr val="078F83"/>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8878824" y="2715768"/>
            <a:ext cx="2240280" cy="365760"/>
          </a:xfrm>
          <a:prstGeom prst="rect">
            <a:avLst/>
          </a:prstGeom>
          <a:noFill/>
          <a:ln/>
        </p:spPr>
        <p:txBody>
          <a:bodyPr wrap="square" lIns="0" tIns="0" rIns="0" bIns="0"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Pandas</a:t>
            </a:r>
            <a:endParaRPr lang="en-US" sz="1300" dirty="0"/>
          </a:p>
        </p:txBody>
      </p:sp>
      <p:sp>
        <p:nvSpPr>
          <p:cNvPr id="24" name="Text 22"/>
          <p:cNvSpPr/>
          <p:nvPr/>
        </p:nvSpPr>
        <p:spPr>
          <a:xfrm>
            <a:off x="8878824" y="3063240"/>
            <a:ext cx="2240280" cy="621792"/>
          </a:xfrm>
          <a:prstGeom prst="rect">
            <a:avLst/>
          </a:prstGeom>
          <a:noFill/>
          <a:ln/>
        </p:spPr>
        <p:txBody>
          <a:bodyPr wrap="square" lIns="0" tIns="0" rIns="0" bIns="0" rtlCol="0" anchor="ctr"/>
          <a:lstStyle/>
          <a:p>
            <a:pPr marL="0" indent="0">
              <a:lnSpc>
                <a:spcPct val="120000"/>
              </a:lnSpc>
              <a:buNone/>
            </a:pPr>
            <a:r>
              <a:rPr lang="en-US" sz="950" dirty="0">
                <a:solidFill>
                  <a:srgbClr val="5B6B87"/>
                </a:solidFill>
                <a:latin typeface="Calibri" pitchFamily="34" charset="0"/>
                <a:ea typeface="Calibri" pitchFamily="34" charset="-122"/>
                <a:cs typeface="Calibri" pitchFamily="34" charset="-120"/>
              </a:rPr>
              <a:t>DataFrame operations: cleaning, merges, group-bys, and aggregation.</a:t>
            </a:r>
            <a:endParaRPr lang="en-US" sz="950" dirty="0"/>
          </a:p>
        </p:txBody>
      </p:sp>
      <p:sp>
        <p:nvSpPr>
          <p:cNvPr id="25" name="Shape 23"/>
          <p:cNvSpPr/>
          <p:nvPr/>
        </p:nvSpPr>
        <p:spPr>
          <a:xfrm>
            <a:off x="548640" y="3886200"/>
            <a:ext cx="2606040" cy="1783080"/>
          </a:xfrm>
          <a:prstGeom prst="roundRect">
            <a:avLst>
              <a:gd name="adj" fmla="val 4103"/>
            </a:avLst>
          </a:prstGeom>
          <a:solidFill>
            <a:srgbClr val="FFFFFF"/>
          </a:solidFill>
          <a:ln/>
          <a:effectLst>
            <a:outerShdw blurRad="76200" dist="25400" dir="5400000" algn="bl" rotWithShape="0">
              <a:srgbClr val="1C2B4A">
                <a:alpha val="10000"/>
              </a:srgbClr>
            </a:outerShdw>
          </a:effectLst>
        </p:spPr>
      </p:sp>
      <p:sp>
        <p:nvSpPr>
          <p:cNvPr id="26" name="Shape 24"/>
          <p:cNvSpPr/>
          <p:nvPr/>
        </p:nvSpPr>
        <p:spPr>
          <a:xfrm>
            <a:off x="731520" y="4069080"/>
            <a:ext cx="457200" cy="457200"/>
          </a:xfrm>
          <a:prstGeom prst="roundRect">
            <a:avLst>
              <a:gd name="adj" fmla="val 50000"/>
            </a:avLst>
          </a:prstGeom>
          <a:solidFill>
            <a:srgbClr val="E6F7F5"/>
          </a:solidFill>
          <a:ln/>
        </p:spPr>
      </p:sp>
      <p:sp>
        <p:nvSpPr>
          <p:cNvPr id="27" name="Text 25"/>
          <p:cNvSpPr/>
          <p:nvPr/>
        </p:nvSpPr>
        <p:spPr>
          <a:xfrm>
            <a:off x="731520" y="4069080"/>
            <a:ext cx="457200" cy="457200"/>
          </a:xfrm>
          <a:prstGeom prst="rect">
            <a:avLst/>
          </a:prstGeom>
          <a:noFill/>
          <a:ln/>
        </p:spPr>
        <p:txBody>
          <a:bodyPr wrap="square" lIns="0" tIns="0" rIns="0" bIns="0" rtlCol="0" anchor="ctr"/>
          <a:lstStyle/>
          <a:p>
            <a:pPr marL="0" indent="0" algn="ctr">
              <a:buNone/>
            </a:pPr>
            <a:r>
              <a:rPr lang="en-US" sz="1300" b="1" dirty="0">
                <a:solidFill>
                  <a:srgbClr val="078F83"/>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731520" y="4636008"/>
            <a:ext cx="2240280" cy="365760"/>
          </a:xfrm>
          <a:prstGeom prst="rect">
            <a:avLst/>
          </a:prstGeom>
          <a:noFill/>
          <a:ln/>
        </p:spPr>
        <p:txBody>
          <a:bodyPr wrap="square" lIns="0" tIns="0" rIns="0" bIns="0"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Matplotlib</a:t>
            </a:r>
            <a:endParaRPr lang="en-US" sz="1300" dirty="0"/>
          </a:p>
        </p:txBody>
      </p:sp>
      <p:sp>
        <p:nvSpPr>
          <p:cNvPr id="29" name="Text 27"/>
          <p:cNvSpPr/>
          <p:nvPr/>
        </p:nvSpPr>
        <p:spPr>
          <a:xfrm>
            <a:off x="731520" y="4983480"/>
            <a:ext cx="2240280" cy="621792"/>
          </a:xfrm>
          <a:prstGeom prst="rect">
            <a:avLst/>
          </a:prstGeom>
          <a:noFill/>
          <a:ln/>
        </p:spPr>
        <p:txBody>
          <a:bodyPr wrap="square" lIns="0" tIns="0" rIns="0" bIns="0" rtlCol="0" anchor="ctr"/>
          <a:lstStyle/>
          <a:p>
            <a:pPr marL="0" indent="0">
              <a:lnSpc>
                <a:spcPct val="120000"/>
              </a:lnSpc>
              <a:buNone/>
            </a:pPr>
            <a:r>
              <a:rPr lang="en-US" sz="950" dirty="0">
                <a:solidFill>
                  <a:srgbClr val="5B6B87"/>
                </a:solidFill>
                <a:latin typeface="Calibri" pitchFamily="34" charset="0"/>
                <a:ea typeface="Calibri" pitchFamily="34" charset="-122"/>
                <a:cs typeface="Calibri" pitchFamily="34" charset="-120"/>
              </a:rPr>
              <a:t>Exploratory plots: histograms, box plots, and distribution plots for statistical insight</a:t>
            </a:r>
            <a:endParaRPr lang="en-US" sz="950" dirty="0"/>
          </a:p>
        </p:txBody>
      </p:sp>
      <p:sp>
        <p:nvSpPr>
          <p:cNvPr id="30" name="Shape 28"/>
          <p:cNvSpPr/>
          <p:nvPr/>
        </p:nvSpPr>
        <p:spPr>
          <a:xfrm>
            <a:off x="3264408" y="3886200"/>
            <a:ext cx="2606040" cy="1783080"/>
          </a:xfrm>
          <a:prstGeom prst="roundRect">
            <a:avLst>
              <a:gd name="adj" fmla="val 4103"/>
            </a:avLst>
          </a:prstGeom>
          <a:solidFill>
            <a:srgbClr val="FFFFFF"/>
          </a:solidFill>
          <a:ln/>
          <a:effectLst>
            <a:outerShdw blurRad="76200" dist="25400" dir="5400000" algn="bl" rotWithShape="0">
              <a:srgbClr val="1C2B4A">
                <a:alpha val="10000"/>
              </a:srgbClr>
            </a:outerShdw>
          </a:effectLst>
        </p:spPr>
      </p:sp>
      <p:sp>
        <p:nvSpPr>
          <p:cNvPr id="31" name="Shape 29"/>
          <p:cNvSpPr/>
          <p:nvPr/>
        </p:nvSpPr>
        <p:spPr>
          <a:xfrm>
            <a:off x="3447288" y="4069080"/>
            <a:ext cx="457200" cy="457200"/>
          </a:xfrm>
          <a:prstGeom prst="roundRect">
            <a:avLst>
              <a:gd name="adj" fmla="val 50000"/>
            </a:avLst>
          </a:prstGeom>
          <a:solidFill>
            <a:srgbClr val="E6F7F5"/>
          </a:solidFill>
          <a:ln/>
        </p:spPr>
      </p:sp>
      <p:sp>
        <p:nvSpPr>
          <p:cNvPr id="32" name="Text 30"/>
          <p:cNvSpPr/>
          <p:nvPr/>
        </p:nvSpPr>
        <p:spPr>
          <a:xfrm>
            <a:off x="3447288" y="4069080"/>
            <a:ext cx="457200" cy="457200"/>
          </a:xfrm>
          <a:prstGeom prst="rect">
            <a:avLst/>
          </a:prstGeom>
          <a:noFill/>
          <a:ln/>
        </p:spPr>
        <p:txBody>
          <a:bodyPr wrap="square" lIns="0" tIns="0" rIns="0" bIns="0" rtlCol="0" anchor="ctr"/>
          <a:lstStyle/>
          <a:p>
            <a:pPr marL="0" indent="0" algn="ctr">
              <a:buNone/>
            </a:pPr>
            <a:r>
              <a:rPr lang="en-US" sz="1300" b="1" dirty="0">
                <a:solidFill>
                  <a:srgbClr val="078F83"/>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3447288" y="4636008"/>
            <a:ext cx="2240280" cy="365760"/>
          </a:xfrm>
          <a:prstGeom prst="rect">
            <a:avLst/>
          </a:prstGeom>
          <a:noFill/>
          <a:ln/>
        </p:spPr>
        <p:txBody>
          <a:bodyPr wrap="square" lIns="0" tIns="0" rIns="0" bIns="0"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Seaborn</a:t>
            </a:r>
            <a:endParaRPr lang="en-US" sz="1300" dirty="0"/>
          </a:p>
        </p:txBody>
      </p:sp>
      <p:sp>
        <p:nvSpPr>
          <p:cNvPr id="34" name="Text 32"/>
          <p:cNvSpPr/>
          <p:nvPr/>
        </p:nvSpPr>
        <p:spPr>
          <a:xfrm>
            <a:off x="3447288" y="4983480"/>
            <a:ext cx="2240280" cy="621792"/>
          </a:xfrm>
          <a:prstGeom prst="rect">
            <a:avLst/>
          </a:prstGeom>
          <a:noFill/>
          <a:ln/>
        </p:spPr>
        <p:txBody>
          <a:bodyPr wrap="square" lIns="0" tIns="0" rIns="0" bIns="0" rtlCol="0" anchor="ctr"/>
          <a:lstStyle/>
          <a:p>
            <a:pPr marL="0" indent="0">
              <a:lnSpc>
                <a:spcPct val="120000"/>
              </a:lnSpc>
              <a:buNone/>
            </a:pPr>
            <a:r>
              <a:rPr lang="en-US" sz="950" dirty="0">
                <a:solidFill>
                  <a:srgbClr val="5B6B87"/>
                </a:solidFill>
                <a:latin typeface="Calibri" pitchFamily="34" charset="0"/>
                <a:ea typeface="Calibri" pitchFamily="34" charset="-122"/>
                <a:cs typeface="Calibri" pitchFamily="34" charset="-120"/>
              </a:rPr>
              <a:t>Used for statistical graphing.</a:t>
            </a:r>
            <a:endParaRPr lang="en-US" sz="950" dirty="0"/>
          </a:p>
        </p:txBody>
      </p:sp>
      <p:sp>
        <p:nvSpPr>
          <p:cNvPr id="35" name="Shape 33"/>
          <p:cNvSpPr/>
          <p:nvPr/>
        </p:nvSpPr>
        <p:spPr>
          <a:xfrm>
            <a:off x="5980176" y="3886200"/>
            <a:ext cx="2606040" cy="1783080"/>
          </a:xfrm>
          <a:prstGeom prst="roundRect">
            <a:avLst>
              <a:gd name="adj" fmla="val 4103"/>
            </a:avLst>
          </a:prstGeom>
          <a:solidFill>
            <a:srgbClr val="FFFFFF"/>
          </a:solidFill>
          <a:ln/>
          <a:effectLst>
            <a:outerShdw blurRad="76200" dist="25400" dir="5400000" algn="bl" rotWithShape="0">
              <a:srgbClr val="1C2B4A">
                <a:alpha val="10000"/>
              </a:srgbClr>
            </a:outerShdw>
          </a:effectLst>
        </p:spPr>
      </p:sp>
      <p:sp>
        <p:nvSpPr>
          <p:cNvPr id="36" name="Shape 34"/>
          <p:cNvSpPr/>
          <p:nvPr/>
        </p:nvSpPr>
        <p:spPr>
          <a:xfrm>
            <a:off x="6163056" y="4069080"/>
            <a:ext cx="457200" cy="457200"/>
          </a:xfrm>
          <a:prstGeom prst="roundRect">
            <a:avLst>
              <a:gd name="adj" fmla="val 50000"/>
            </a:avLst>
          </a:prstGeom>
          <a:solidFill>
            <a:srgbClr val="E6F7F5"/>
          </a:solidFill>
          <a:ln/>
        </p:spPr>
      </p:sp>
      <p:sp>
        <p:nvSpPr>
          <p:cNvPr id="37" name="Text 35"/>
          <p:cNvSpPr/>
          <p:nvPr/>
        </p:nvSpPr>
        <p:spPr>
          <a:xfrm>
            <a:off x="6163056" y="4069080"/>
            <a:ext cx="457200" cy="457200"/>
          </a:xfrm>
          <a:prstGeom prst="rect">
            <a:avLst/>
          </a:prstGeom>
          <a:noFill/>
          <a:ln/>
        </p:spPr>
        <p:txBody>
          <a:bodyPr wrap="square" lIns="0" tIns="0" rIns="0" bIns="0" rtlCol="0" anchor="ctr"/>
          <a:lstStyle/>
          <a:p>
            <a:pPr marL="0" indent="0" algn="ctr">
              <a:buNone/>
            </a:pPr>
            <a:r>
              <a:rPr lang="en-US" sz="1300" b="1" dirty="0">
                <a:solidFill>
                  <a:srgbClr val="078F83"/>
                </a:solidFill>
                <a:latin typeface="Calibri" pitchFamily="34" charset="0"/>
                <a:ea typeface="Calibri" pitchFamily="34" charset="-122"/>
                <a:cs typeface="Calibri" pitchFamily="34" charset="-120"/>
              </a:rPr>
              <a:t>7</a:t>
            </a:r>
            <a:endParaRPr lang="en-US" sz="1300" dirty="0"/>
          </a:p>
        </p:txBody>
      </p:sp>
      <p:sp>
        <p:nvSpPr>
          <p:cNvPr id="38" name="Text 36"/>
          <p:cNvSpPr/>
          <p:nvPr/>
        </p:nvSpPr>
        <p:spPr>
          <a:xfrm>
            <a:off x="6163056" y="4636008"/>
            <a:ext cx="2240280" cy="365760"/>
          </a:xfrm>
          <a:prstGeom prst="rect">
            <a:avLst/>
          </a:prstGeom>
          <a:noFill/>
          <a:ln/>
        </p:spPr>
        <p:txBody>
          <a:bodyPr wrap="square" lIns="0" tIns="0" rIns="0" bIns="0"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Plotly</a:t>
            </a:r>
            <a:endParaRPr lang="en-US" sz="1300" dirty="0"/>
          </a:p>
        </p:txBody>
      </p:sp>
      <p:sp>
        <p:nvSpPr>
          <p:cNvPr id="39" name="Text 37"/>
          <p:cNvSpPr/>
          <p:nvPr/>
        </p:nvSpPr>
        <p:spPr>
          <a:xfrm>
            <a:off x="6163056" y="4983480"/>
            <a:ext cx="2240280" cy="621792"/>
          </a:xfrm>
          <a:prstGeom prst="rect">
            <a:avLst/>
          </a:prstGeom>
          <a:noFill/>
          <a:ln/>
        </p:spPr>
        <p:txBody>
          <a:bodyPr wrap="square" lIns="0" tIns="0" rIns="0" bIns="0" rtlCol="0" anchor="ctr"/>
          <a:lstStyle/>
          <a:p>
            <a:pPr marL="0" indent="0">
              <a:lnSpc>
                <a:spcPct val="120000"/>
              </a:lnSpc>
              <a:buNone/>
            </a:pPr>
            <a:r>
              <a:rPr lang="en-US" sz="950" dirty="0">
                <a:solidFill>
                  <a:srgbClr val="5B6B87"/>
                </a:solidFill>
                <a:latin typeface="Calibri" pitchFamily="34" charset="0"/>
                <a:ea typeface="Calibri" pitchFamily="34" charset="-122"/>
                <a:cs typeface="Calibri" pitchFamily="34" charset="-120"/>
              </a:rPr>
              <a:t>Used for interactive charts and maps</a:t>
            </a:r>
            <a:endParaRPr lang="en-US" sz="950" dirty="0"/>
          </a:p>
        </p:txBody>
      </p:sp>
      <p:sp>
        <p:nvSpPr>
          <p:cNvPr id="40" name="Shape 38"/>
          <p:cNvSpPr/>
          <p:nvPr/>
        </p:nvSpPr>
        <p:spPr>
          <a:xfrm>
            <a:off x="8695944" y="3886200"/>
            <a:ext cx="2606040" cy="1783080"/>
          </a:xfrm>
          <a:prstGeom prst="roundRect">
            <a:avLst>
              <a:gd name="adj" fmla="val 4103"/>
            </a:avLst>
          </a:prstGeom>
          <a:solidFill>
            <a:srgbClr val="FFFFFF"/>
          </a:solidFill>
          <a:ln/>
          <a:effectLst>
            <a:outerShdw blurRad="76200" dist="25400" dir="5400000" algn="bl" rotWithShape="0">
              <a:srgbClr val="1C2B4A">
                <a:alpha val="10000"/>
              </a:srgbClr>
            </a:outerShdw>
          </a:effectLst>
        </p:spPr>
      </p:sp>
      <p:sp>
        <p:nvSpPr>
          <p:cNvPr id="41" name="Shape 39"/>
          <p:cNvSpPr/>
          <p:nvPr/>
        </p:nvSpPr>
        <p:spPr>
          <a:xfrm>
            <a:off x="8878824" y="4069080"/>
            <a:ext cx="457200" cy="457200"/>
          </a:xfrm>
          <a:prstGeom prst="roundRect">
            <a:avLst>
              <a:gd name="adj" fmla="val 50000"/>
            </a:avLst>
          </a:prstGeom>
          <a:solidFill>
            <a:srgbClr val="E6F7F5"/>
          </a:solidFill>
          <a:ln/>
        </p:spPr>
      </p:sp>
      <p:sp>
        <p:nvSpPr>
          <p:cNvPr id="42" name="Text 40"/>
          <p:cNvSpPr/>
          <p:nvPr/>
        </p:nvSpPr>
        <p:spPr>
          <a:xfrm>
            <a:off x="8878824" y="4069080"/>
            <a:ext cx="457200" cy="457200"/>
          </a:xfrm>
          <a:prstGeom prst="rect">
            <a:avLst/>
          </a:prstGeom>
          <a:noFill/>
          <a:ln/>
        </p:spPr>
        <p:txBody>
          <a:bodyPr wrap="square" lIns="0" tIns="0" rIns="0" bIns="0" rtlCol="0" anchor="ctr"/>
          <a:lstStyle/>
          <a:p>
            <a:pPr marL="0" indent="0" algn="ctr">
              <a:buNone/>
            </a:pPr>
            <a:r>
              <a:rPr lang="en-US" sz="1300" b="1" dirty="0">
                <a:solidFill>
                  <a:srgbClr val="078F83"/>
                </a:solidFill>
                <a:latin typeface="Calibri" pitchFamily="34" charset="0"/>
                <a:ea typeface="Calibri" pitchFamily="34" charset="-122"/>
                <a:cs typeface="Calibri" pitchFamily="34" charset="-120"/>
              </a:rPr>
              <a:t>8</a:t>
            </a:r>
            <a:endParaRPr lang="en-US" sz="1300" dirty="0"/>
          </a:p>
        </p:txBody>
      </p:sp>
      <p:sp>
        <p:nvSpPr>
          <p:cNvPr id="43" name="Text 41"/>
          <p:cNvSpPr/>
          <p:nvPr/>
        </p:nvSpPr>
        <p:spPr>
          <a:xfrm>
            <a:off x="8878824" y="4636008"/>
            <a:ext cx="2240280" cy="365760"/>
          </a:xfrm>
          <a:prstGeom prst="rect">
            <a:avLst/>
          </a:prstGeom>
          <a:noFill/>
          <a:ln/>
        </p:spPr>
        <p:txBody>
          <a:bodyPr wrap="square" lIns="0" tIns="0" rIns="0" bIns="0"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Streamlit</a:t>
            </a:r>
            <a:endParaRPr lang="en-US" sz="1300" dirty="0"/>
          </a:p>
        </p:txBody>
      </p:sp>
      <p:sp>
        <p:nvSpPr>
          <p:cNvPr id="44" name="Text 42"/>
          <p:cNvSpPr/>
          <p:nvPr/>
        </p:nvSpPr>
        <p:spPr>
          <a:xfrm>
            <a:off x="8878824" y="4983480"/>
            <a:ext cx="2240280" cy="621792"/>
          </a:xfrm>
          <a:prstGeom prst="rect">
            <a:avLst/>
          </a:prstGeom>
          <a:noFill/>
          <a:ln/>
        </p:spPr>
        <p:txBody>
          <a:bodyPr wrap="square" lIns="0" tIns="0" rIns="0" bIns="0" rtlCol="0" anchor="ctr"/>
          <a:lstStyle/>
          <a:p>
            <a:pPr marL="0" indent="0">
              <a:lnSpc>
                <a:spcPct val="120000"/>
              </a:lnSpc>
              <a:buNone/>
            </a:pPr>
            <a:r>
              <a:rPr lang="en-US" sz="950" dirty="0">
                <a:solidFill>
                  <a:srgbClr val="5B6B87"/>
                </a:solidFill>
                <a:latin typeface="Calibri" pitchFamily="34" charset="0"/>
                <a:ea typeface="Calibri" pitchFamily="34" charset="-122"/>
                <a:cs typeface="Calibri" pitchFamily="34" charset="-120"/>
              </a:rPr>
              <a:t>Builds interactive Python web apps without frontend code.</a:t>
            </a:r>
            <a:endParaRPr lang="en-US" sz="950" dirty="0"/>
          </a:p>
        </p:txBody>
      </p:sp>
      <p:sp>
        <p:nvSpPr>
          <p:cNvPr id="45" name="Text 43"/>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5B6B87"/>
                </a:solidFill>
                <a:latin typeface="Calibri" pitchFamily="34" charset="0"/>
                <a:ea typeface="Calibri" pitchFamily="34" charset="-122"/>
                <a:cs typeface="Calibri" pitchFamily="34" charset="-120"/>
              </a:rPr>
              <a:t>09</a:t>
            </a:r>
            <a:endParaRPr lang="en-US" sz="1000" dirty="0"/>
          </a:p>
        </p:txBody>
      </p:sp>
      <p:sp>
        <p:nvSpPr>
          <p:cNvPr id="46" name="Text 44"/>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A9B4C8"/>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78F83"/>
                </a:solidFill>
                <a:latin typeface="Calibri" pitchFamily="34" charset="0"/>
                <a:ea typeface="Calibri" pitchFamily="34" charset="-122"/>
                <a:cs typeface="Calibri" pitchFamily="34" charset="-120"/>
              </a:rPr>
              <a:t>10 — CHARTS</a:t>
            </a:r>
            <a:endParaRPr lang="en-US" sz="1200" dirty="0"/>
          </a:p>
        </p:txBody>
      </p:sp>
      <p:sp>
        <p:nvSpPr>
          <p:cNvPr id="3" name="Text 1"/>
          <p:cNvSpPr/>
          <p:nvPr/>
        </p:nvSpPr>
        <p:spPr>
          <a:xfrm>
            <a:off x="548640" y="713232"/>
            <a:ext cx="8686800" cy="640080"/>
          </a:xfrm>
          <a:prstGeom prst="rect">
            <a:avLst/>
          </a:prstGeom>
          <a:noFill/>
          <a:ln/>
        </p:spPr>
        <p:txBody>
          <a:bodyPr wrap="square" lIns="0" tIns="0" rIns="0" bIns="0" rtlCol="0" anchor="ctr"/>
          <a:lstStyle/>
          <a:p>
            <a:pPr marL="0" indent="0">
              <a:buNone/>
            </a:pPr>
            <a:r>
              <a:rPr lang="en-US" sz="3000" b="1" dirty="0">
                <a:solidFill>
                  <a:srgbClr val="16213E"/>
                </a:solidFill>
                <a:latin typeface="Cambria" pitchFamily="34" charset="0"/>
                <a:ea typeface="Cambria" pitchFamily="34" charset="-122"/>
                <a:cs typeface="Cambria" pitchFamily="34" charset="-120"/>
              </a:rPr>
              <a:t>Planned Visualisations</a:t>
            </a:r>
            <a:endParaRPr lang="en-US" sz="3000" dirty="0"/>
          </a:p>
        </p:txBody>
      </p:sp>
      <p:sp>
        <p:nvSpPr>
          <p:cNvPr id="4" name="Text 2"/>
          <p:cNvSpPr/>
          <p:nvPr/>
        </p:nvSpPr>
        <p:spPr>
          <a:xfrm>
            <a:off x="548640" y="1371600"/>
            <a:ext cx="10881360" cy="548640"/>
          </a:xfrm>
          <a:prstGeom prst="rect">
            <a:avLst/>
          </a:prstGeom>
          <a:noFill/>
          <a:ln/>
        </p:spPr>
        <p:txBody>
          <a:bodyPr wrap="square" lIns="0" tIns="0" rIns="0" bIns="0" rtlCol="0" anchor="ctr"/>
          <a:lstStyle/>
          <a:p>
            <a:pPr marL="0" indent="0">
              <a:lnSpc>
                <a:spcPct val="125000"/>
              </a:lnSpc>
              <a:buNone/>
            </a:pPr>
            <a:r>
              <a:rPr lang="en-US" sz="1200" dirty="0">
                <a:solidFill>
                  <a:srgbClr val="5B6B87"/>
                </a:solidFill>
                <a:latin typeface="Calibri" pitchFamily="34" charset="0"/>
                <a:ea typeface="Calibri" pitchFamily="34" charset="-122"/>
                <a:cs typeface="Calibri" pitchFamily="34" charset="-120"/>
              </a:rPr>
              <a:t>This project uses different types of charts to better understand the AI job market. These charts make it easier to compare different aspects of the dataset and identify hidden trends.</a:t>
            </a:r>
            <a:endParaRPr lang="en-US" sz="1200" dirty="0"/>
          </a:p>
        </p:txBody>
      </p:sp>
      <p:sp>
        <p:nvSpPr>
          <p:cNvPr id="5" name="Shape 3"/>
          <p:cNvSpPr/>
          <p:nvPr/>
        </p:nvSpPr>
        <p:spPr>
          <a:xfrm>
            <a:off x="548640" y="2148840"/>
            <a:ext cx="2084832" cy="3840480"/>
          </a:xfrm>
          <a:prstGeom prst="roundRect">
            <a:avLst>
              <a:gd name="adj" fmla="val 3509"/>
            </a:avLst>
          </a:prstGeom>
          <a:solidFill>
            <a:srgbClr val="0B1F3A"/>
          </a:solidFill>
          <a:ln/>
          <a:effectLst>
            <a:outerShdw blurRad="101600" dist="38100" dir="5400000" algn="bl" rotWithShape="0">
              <a:srgbClr val="1C2B4A">
                <a:alpha val="12000"/>
              </a:srgbClr>
            </a:outerShdw>
          </a:effectLst>
        </p:spPr>
      </p:sp>
      <p:sp>
        <p:nvSpPr>
          <p:cNvPr id="6" name="Shape 4"/>
          <p:cNvSpPr/>
          <p:nvPr/>
        </p:nvSpPr>
        <p:spPr>
          <a:xfrm>
            <a:off x="768096" y="2404872"/>
            <a:ext cx="365760" cy="365760"/>
          </a:xfrm>
          <a:prstGeom prst="ellipse">
            <a:avLst/>
          </a:prstGeom>
          <a:solidFill>
            <a:srgbClr val="00B8A9"/>
          </a:solidFill>
          <a:ln/>
        </p:spPr>
      </p:sp>
      <p:sp>
        <p:nvSpPr>
          <p:cNvPr id="7" name="Text 5"/>
          <p:cNvSpPr/>
          <p:nvPr/>
        </p:nvSpPr>
        <p:spPr>
          <a:xfrm>
            <a:off x="768096" y="24048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731520" y="2971800"/>
            <a:ext cx="1719072" cy="1005840"/>
          </a:xfrm>
          <a:prstGeom prst="rect">
            <a:avLst/>
          </a:prstGeom>
          <a:noFill/>
          <a:ln/>
        </p:spPr>
        <p:txBody>
          <a:bodyPr wrap="square" lIns="0" tIns="0" rIns="0" bIns="0" rtlCol="0" anchor="ctr"/>
          <a:lstStyle/>
          <a:p>
            <a:pPr marL="0" indent="0">
              <a:lnSpc>
                <a:spcPct val="115000"/>
              </a:lnSpc>
              <a:buNone/>
            </a:pPr>
            <a:r>
              <a:rPr lang="en-US" sz="1200" b="1" dirty="0">
                <a:solidFill>
                  <a:srgbClr val="FFFFFF"/>
                </a:solidFill>
                <a:latin typeface="Calibri" pitchFamily="34" charset="0"/>
                <a:ea typeface="Calibri" pitchFamily="34" charset="-122"/>
                <a:cs typeface="Calibri" pitchFamily="34" charset="-120"/>
              </a:rPr>
              <a:t>Country-wise AI Jobs (Choropleth)</a:t>
            </a:r>
            <a:endParaRPr lang="en-US" sz="1200" dirty="0"/>
          </a:p>
        </p:txBody>
      </p:sp>
      <p:sp>
        <p:nvSpPr>
          <p:cNvPr id="9" name="Text 7"/>
          <p:cNvSpPr/>
          <p:nvPr/>
        </p:nvSpPr>
        <p:spPr>
          <a:xfrm>
            <a:off x="731520" y="4023360"/>
            <a:ext cx="1719072" cy="1828800"/>
          </a:xfrm>
          <a:prstGeom prst="rect">
            <a:avLst/>
          </a:prstGeom>
          <a:noFill/>
          <a:ln/>
        </p:spPr>
        <p:txBody>
          <a:bodyPr wrap="square" lIns="0" tIns="0" rIns="0" bIns="0" rtlCol="0" anchor="ctr"/>
          <a:lstStyle/>
          <a:p>
            <a:pPr marL="0" indent="0">
              <a:lnSpc>
                <a:spcPct val="125000"/>
              </a:lnSpc>
              <a:buNone/>
            </a:pPr>
            <a:r>
              <a:rPr lang="en-US" sz="1000" dirty="0">
                <a:solidFill>
                  <a:srgbClr val="C4D0E6"/>
                </a:solidFill>
                <a:latin typeface="Calibri" pitchFamily="34" charset="0"/>
                <a:ea typeface="Calibri" pitchFamily="34" charset="-122"/>
                <a:cs typeface="Calibri" pitchFamily="34" charset="-120"/>
              </a:rPr>
              <a:t>Where are jobs concentrated? Reveal geographic hotspots and remote hiring patterns.</a:t>
            </a:r>
            <a:endParaRPr lang="en-US" sz="1000" dirty="0"/>
          </a:p>
        </p:txBody>
      </p:sp>
      <p:sp>
        <p:nvSpPr>
          <p:cNvPr id="10" name="Shape 8"/>
          <p:cNvSpPr/>
          <p:nvPr/>
        </p:nvSpPr>
        <p:spPr>
          <a:xfrm>
            <a:off x="2798064" y="2148840"/>
            <a:ext cx="2084832" cy="3840480"/>
          </a:xfrm>
          <a:prstGeom prst="roundRect">
            <a:avLst>
              <a:gd name="adj" fmla="val 3509"/>
            </a:avLst>
          </a:prstGeom>
          <a:solidFill>
            <a:srgbClr val="FFFFFF"/>
          </a:solidFill>
          <a:ln/>
          <a:effectLst>
            <a:outerShdw blurRad="101600" dist="38100" dir="5400000" algn="bl" rotWithShape="0">
              <a:srgbClr val="1C2B4A">
                <a:alpha val="12000"/>
              </a:srgbClr>
            </a:outerShdw>
          </a:effectLst>
        </p:spPr>
      </p:sp>
      <p:sp>
        <p:nvSpPr>
          <p:cNvPr id="11" name="Shape 9"/>
          <p:cNvSpPr/>
          <p:nvPr/>
        </p:nvSpPr>
        <p:spPr>
          <a:xfrm>
            <a:off x="3017520" y="2404872"/>
            <a:ext cx="365760" cy="365760"/>
          </a:xfrm>
          <a:prstGeom prst="ellipse">
            <a:avLst/>
          </a:prstGeom>
          <a:solidFill>
            <a:srgbClr val="00B8A9"/>
          </a:solidFill>
          <a:ln/>
        </p:spPr>
      </p:sp>
      <p:sp>
        <p:nvSpPr>
          <p:cNvPr id="12" name="Text 10"/>
          <p:cNvSpPr/>
          <p:nvPr/>
        </p:nvSpPr>
        <p:spPr>
          <a:xfrm>
            <a:off x="3017520" y="24048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2980944" y="2971800"/>
            <a:ext cx="1719072" cy="1005840"/>
          </a:xfrm>
          <a:prstGeom prst="rect">
            <a:avLst/>
          </a:prstGeom>
          <a:noFill/>
          <a:ln/>
        </p:spPr>
        <p:txBody>
          <a:bodyPr wrap="square" lIns="0" tIns="0" rIns="0" bIns="0" rtlCol="0" anchor="ctr"/>
          <a:lstStyle/>
          <a:p>
            <a:pPr marL="0" indent="0">
              <a:lnSpc>
                <a:spcPct val="115000"/>
              </a:lnSpc>
              <a:buNone/>
            </a:pPr>
            <a:r>
              <a:rPr lang="en-US" sz="1200" b="1" dirty="0">
                <a:solidFill>
                  <a:srgbClr val="16213E"/>
                </a:solidFill>
                <a:latin typeface="Calibri" pitchFamily="34" charset="0"/>
                <a:ea typeface="Calibri" pitchFamily="34" charset="-122"/>
                <a:cs typeface="Calibri" pitchFamily="34" charset="-120"/>
              </a:rPr>
              <a:t>Top 10 AI Job Roles (Bar Chart)</a:t>
            </a:r>
            <a:endParaRPr lang="en-US" sz="1200" dirty="0"/>
          </a:p>
        </p:txBody>
      </p:sp>
      <p:sp>
        <p:nvSpPr>
          <p:cNvPr id="14" name="Text 12"/>
          <p:cNvSpPr/>
          <p:nvPr/>
        </p:nvSpPr>
        <p:spPr>
          <a:xfrm>
            <a:off x="2980944" y="4023360"/>
            <a:ext cx="1719072" cy="1828800"/>
          </a:xfrm>
          <a:prstGeom prst="rect">
            <a:avLst/>
          </a:prstGeom>
          <a:noFill/>
          <a:ln/>
        </p:spPr>
        <p:txBody>
          <a:bodyPr wrap="square" lIns="0" tIns="0" rIns="0" bIns="0" rtlCol="0" anchor="ctr"/>
          <a:lstStyle/>
          <a:p>
            <a:pPr marL="0" indent="0">
              <a:lnSpc>
                <a:spcPct val="125000"/>
              </a:lnSpc>
              <a:buNone/>
            </a:pPr>
            <a:r>
              <a:rPr lang="en-US" sz="1000" dirty="0">
                <a:solidFill>
                  <a:srgbClr val="5B6B87"/>
                </a:solidFill>
                <a:latin typeface="Calibri" pitchFamily="34" charset="0"/>
                <a:ea typeface="Calibri" pitchFamily="34" charset="-122"/>
                <a:cs typeface="Calibri" pitchFamily="34" charset="-120"/>
              </a:rPr>
              <a:t>Which specific roles attract the most listings—useful for targeting training and hiring.</a:t>
            </a:r>
            <a:endParaRPr lang="en-US" sz="1000" dirty="0"/>
          </a:p>
        </p:txBody>
      </p:sp>
      <p:sp>
        <p:nvSpPr>
          <p:cNvPr id="15" name="Shape 13"/>
          <p:cNvSpPr/>
          <p:nvPr/>
        </p:nvSpPr>
        <p:spPr>
          <a:xfrm>
            <a:off x="5047488" y="2148840"/>
            <a:ext cx="2084832" cy="3840480"/>
          </a:xfrm>
          <a:prstGeom prst="roundRect">
            <a:avLst>
              <a:gd name="adj" fmla="val 3509"/>
            </a:avLst>
          </a:prstGeom>
          <a:solidFill>
            <a:srgbClr val="0B1F3A"/>
          </a:solidFill>
          <a:ln/>
          <a:effectLst>
            <a:outerShdw blurRad="101600" dist="38100" dir="5400000" algn="bl" rotWithShape="0">
              <a:srgbClr val="1C2B4A">
                <a:alpha val="12000"/>
              </a:srgbClr>
            </a:outerShdw>
          </a:effectLst>
        </p:spPr>
      </p:sp>
      <p:sp>
        <p:nvSpPr>
          <p:cNvPr id="16" name="Shape 14"/>
          <p:cNvSpPr/>
          <p:nvPr/>
        </p:nvSpPr>
        <p:spPr>
          <a:xfrm>
            <a:off x="5266944" y="2404872"/>
            <a:ext cx="365760" cy="365760"/>
          </a:xfrm>
          <a:prstGeom prst="ellipse">
            <a:avLst/>
          </a:prstGeom>
          <a:solidFill>
            <a:srgbClr val="00B8A9"/>
          </a:solidFill>
          <a:ln/>
        </p:spPr>
      </p:sp>
      <p:sp>
        <p:nvSpPr>
          <p:cNvPr id="17" name="Text 15"/>
          <p:cNvSpPr/>
          <p:nvPr/>
        </p:nvSpPr>
        <p:spPr>
          <a:xfrm>
            <a:off x="5266944" y="24048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5230368" y="2971800"/>
            <a:ext cx="1719072" cy="1005840"/>
          </a:xfrm>
          <a:prstGeom prst="rect">
            <a:avLst/>
          </a:prstGeom>
          <a:noFill/>
          <a:ln/>
        </p:spPr>
        <p:txBody>
          <a:bodyPr wrap="square" lIns="0" tIns="0" rIns="0" bIns="0" rtlCol="0" anchor="ctr"/>
          <a:lstStyle/>
          <a:p>
            <a:pPr marL="0" indent="0">
              <a:lnSpc>
                <a:spcPct val="115000"/>
              </a:lnSpc>
              <a:buNone/>
            </a:pPr>
            <a:r>
              <a:rPr lang="en-US" sz="1200" b="1" dirty="0">
                <a:solidFill>
                  <a:srgbClr val="FFFFFF"/>
                </a:solidFill>
                <a:latin typeface="Calibri" pitchFamily="34" charset="0"/>
                <a:ea typeface="Calibri" pitchFamily="34" charset="-122"/>
                <a:cs typeface="Calibri" pitchFamily="34" charset="-120"/>
              </a:rPr>
              <a:t>Salary Distribution (Histogram / Box Plot)</a:t>
            </a:r>
            <a:endParaRPr lang="en-US" sz="1200" dirty="0"/>
          </a:p>
        </p:txBody>
      </p:sp>
      <p:sp>
        <p:nvSpPr>
          <p:cNvPr id="19" name="Text 17"/>
          <p:cNvSpPr/>
          <p:nvPr/>
        </p:nvSpPr>
        <p:spPr>
          <a:xfrm>
            <a:off x="5230368" y="4023360"/>
            <a:ext cx="1719072" cy="1828800"/>
          </a:xfrm>
          <a:prstGeom prst="rect">
            <a:avLst/>
          </a:prstGeom>
          <a:noFill/>
          <a:ln/>
        </p:spPr>
        <p:txBody>
          <a:bodyPr wrap="square" lIns="0" tIns="0" rIns="0" bIns="0" rtlCol="0" anchor="ctr"/>
          <a:lstStyle/>
          <a:p>
            <a:pPr marL="0" indent="0">
              <a:lnSpc>
                <a:spcPct val="125000"/>
              </a:lnSpc>
              <a:buNone/>
            </a:pPr>
            <a:r>
              <a:rPr lang="en-US" sz="1000" dirty="0">
                <a:solidFill>
                  <a:srgbClr val="C4D0E6"/>
                </a:solidFill>
                <a:latin typeface="Calibri" pitchFamily="34" charset="0"/>
                <a:ea typeface="Calibri" pitchFamily="34" charset="-122"/>
                <a:cs typeface="Calibri" pitchFamily="34" charset="-120"/>
              </a:rPr>
              <a:t>Understand central tendency and dispersion; identify high-paying roles and salary outliers.</a:t>
            </a:r>
            <a:endParaRPr lang="en-US" sz="1000" dirty="0"/>
          </a:p>
        </p:txBody>
      </p:sp>
      <p:sp>
        <p:nvSpPr>
          <p:cNvPr id="20" name="Shape 18"/>
          <p:cNvSpPr/>
          <p:nvPr/>
        </p:nvSpPr>
        <p:spPr>
          <a:xfrm>
            <a:off x="7296912" y="2148840"/>
            <a:ext cx="2084832" cy="3840480"/>
          </a:xfrm>
          <a:prstGeom prst="roundRect">
            <a:avLst>
              <a:gd name="adj" fmla="val 3509"/>
            </a:avLst>
          </a:prstGeom>
          <a:solidFill>
            <a:srgbClr val="FFFFFF"/>
          </a:solidFill>
          <a:ln/>
          <a:effectLst>
            <a:outerShdw blurRad="101600" dist="38100" dir="5400000" algn="bl" rotWithShape="0">
              <a:srgbClr val="1C2B4A">
                <a:alpha val="12000"/>
              </a:srgbClr>
            </a:outerShdw>
          </a:effectLst>
        </p:spPr>
      </p:sp>
      <p:sp>
        <p:nvSpPr>
          <p:cNvPr id="21" name="Shape 19"/>
          <p:cNvSpPr/>
          <p:nvPr/>
        </p:nvSpPr>
        <p:spPr>
          <a:xfrm>
            <a:off x="7516368" y="2404872"/>
            <a:ext cx="365760" cy="365760"/>
          </a:xfrm>
          <a:prstGeom prst="ellipse">
            <a:avLst/>
          </a:prstGeom>
          <a:solidFill>
            <a:srgbClr val="00B8A9"/>
          </a:solidFill>
          <a:ln/>
        </p:spPr>
      </p:sp>
      <p:sp>
        <p:nvSpPr>
          <p:cNvPr id="22" name="Text 20"/>
          <p:cNvSpPr/>
          <p:nvPr/>
        </p:nvSpPr>
        <p:spPr>
          <a:xfrm>
            <a:off x="7516368" y="24048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7479792" y="2971800"/>
            <a:ext cx="1719072" cy="1005840"/>
          </a:xfrm>
          <a:prstGeom prst="rect">
            <a:avLst/>
          </a:prstGeom>
          <a:noFill/>
          <a:ln/>
        </p:spPr>
        <p:txBody>
          <a:bodyPr wrap="square" lIns="0" tIns="0" rIns="0" bIns="0" rtlCol="0" anchor="ctr"/>
          <a:lstStyle/>
          <a:p>
            <a:pPr marL="0" indent="0">
              <a:lnSpc>
                <a:spcPct val="115000"/>
              </a:lnSpc>
              <a:buNone/>
            </a:pPr>
            <a:r>
              <a:rPr lang="en-US" sz="1200" b="1" dirty="0">
                <a:solidFill>
                  <a:srgbClr val="16213E"/>
                </a:solidFill>
                <a:latin typeface="Calibri" pitchFamily="34" charset="0"/>
                <a:ea typeface="Calibri" pitchFamily="34" charset="-122"/>
                <a:cs typeface="Calibri" pitchFamily="34" charset="-120"/>
              </a:rPr>
              <a:t>Top Skills</a:t>
            </a:r>
            <a:endParaRPr lang="en-US" sz="1200" dirty="0"/>
          </a:p>
        </p:txBody>
      </p:sp>
      <p:sp>
        <p:nvSpPr>
          <p:cNvPr id="24" name="Text 22"/>
          <p:cNvSpPr/>
          <p:nvPr/>
        </p:nvSpPr>
        <p:spPr>
          <a:xfrm>
            <a:off x="7479792" y="4023360"/>
            <a:ext cx="1719072" cy="1828800"/>
          </a:xfrm>
          <a:prstGeom prst="rect">
            <a:avLst/>
          </a:prstGeom>
          <a:noFill/>
          <a:ln/>
        </p:spPr>
        <p:txBody>
          <a:bodyPr wrap="square" lIns="0" tIns="0" rIns="0" bIns="0" rtlCol="0" anchor="ctr"/>
          <a:lstStyle/>
          <a:p>
            <a:pPr marL="0" indent="0">
              <a:lnSpc>
                <a:spcPct val="125000"/>
              </a:lnSpc>
              <a:buNone/>
            </a:pPr>
            <a:r>
              <a:rPr lang="en-US" sz="1000" dirty="0">
                <a:solidFill>
                  <a:srgbClr val="5B6B87"/>
                </a:solidFill>
                <a:latin typeface="Calibri" pitchFamily="34" charset="0"/>
                <a:ea typeface="Calibri" pitchFamily="34" charset="-122"/>
                <a:cs typeface="Calibri" pitchFamily="34" charset="-120"/>
              </a:rPr>
              <a:t>Rank technical skills and certifications mentioned most often in listings.</a:t>
            </a:r>
            <a:endParaRPr lang="en-US" sz="1000" dirty="0"/>
          </a:p>
        </p:txBody>
      </p:sp>
      <p:sp>
        <p:nvSpPr>
          <p:cNvPr id="25" name="Shape 23"/>
          <p:cNvSpPr/>
          <p:nvPr/>
        </p:nvSpPr>
        <p:spPr>
          <a:xfrm>
            <a:off x="9546336" y="2148840"/>
            <a:ext cx="2084832" cy="3840480"/>
          </a:xfrm>
          <a:prstGeom prst="roundRect">
            <a:avLst>
              <a:gd name="adj" fmla="val 3509"/>
            </a:avLst>
          </a:prstGeom>
          <a:solidFill>
            <a:srgbClr val="0B1F3A"/>
          </a:solidFill>
          <a:ln/>
          <a:effectLst>
            <a:outerShdw blurRad="101600" dist="38100" dir="5400000" algn="bl" rotWithShape="0">
              <a:srgbClr val="1C2B4A">
                <a:alpha val="12000"/>
              </a:srgbClr>
            </a:outerShdw>
          </a:effectLst>
        </p:spPr>
      </p:sp>
      <p:sp>
        <p:nvSpPr>
          <p:cNvPr id="26" name="Shape 24"/>
          <p:cNvSpPr/>
          <p:nvPr/>
        </p:nvSpPr>
        <p:spPr>
          <a:xfrm>
            <a:off x="9765792" y="2404872"/>
            <a:ext cx="365760" cy="365760"/>
          </a:xfrm>
          <a:prstGeom prst="ellipse">
            <a:avLst/>
          </a:prstGeom>
          <a:solidFill>
            <a:srgbClr val="00B8A9"/>
          </a:solidFill>
          <a:ln/>
        </p:spPr>
      </p:sp>
      <p:sp>
        <p:nvSpPr>
          <p:cNvPr id="27" name="Text 25"/>
          <p:cNvSpPr/>
          <p:nvPr/>
        </p:nvSpPr>
        <p:spPr>
          <a:xfrm>
            <a:off x="9765792" y="24048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9729216" y="2971800"/>
            <a:ext cx="1719072" cy="1005840"/>
          </a:xfrm>
          <a:prstGeom prst="rect">
            <a:avLst/>
          </a:prstGeom>
          <a:noFill/>
          <a:ln/>
        </p:spPr>
        <p:txBody>
          <a:bodyPr wrap="square" lIns="0" tIns="0" rIns="0" bIns="0" rtlCol="0" anchor="ctr"/>
          <a:lstStyle/>
          <a:p>
            <a:pPr marL="0" indent="0">
              <a:lnSpc>
                <a:spcPct val="115000"/>
              </a:lnSpc>
              <a:buNone/>
            </a:pPr>
            <a:r>
              <a:rPr lang="en-US" sz="1200" b="1" dirty="0">
                <a:solidFill>
                  <a:srgbClr val="FFFFFF"/>
                </a:solidFill>
                <a:latin typeface="Calibri" pitchFamily="34" charset="0"/>
                <a:ea typeface="Calibri" pitchFamily="34" charset="-122"/>
                <a:cs typeface="Calibri" pitchFamily="34" charset="-120"/>
              </a:rPr>
              <a:t>Experience Level Distribution</a:t>
            </a:r>
            <a:endParaRPr lang="en-US" sz="1200" dirty="0"/>
          </a:p>
        </p:txBody>
      </p:sp>
      <p:sp>
        <p:nvSpPr>
          <p:cNvPr id="29" name="Text 27"/>
          <p:cNvSpPr/>
          <p:nvPr/>
        </p:nvSpPr>
        <p:spPr>
          <a:xfrm>
            <a:off x="9729216" y="4023360"/>
            <a:ext cx="1719072" cy="1828800"/>
          </a:xfrm>
          <a:prstGeom prst="rect">
            <a:avLst/>
          </a:prstGeom>
          <a:noFill/>
          <a:ln/>
        </p:spPr>
        <p:txBody>
          <a:bodyPr wrap="square" lIns="0" tIns="0" rIns="0" bIns="0" rtlCol="0" anchor="ctr"/>
          <a:lstStyle/>
          <a:p>
            <a:pPr marL="0" indent="0">
              <a:lnSpc>
                <a:spcPct val="125000"/>
              </a:lnSpc>
              <a:buNone/>
            </a:pPr>
            <a:r>
              <a:rPr lang="en-US" sz="1000" dirty="0">
                <a:solidFill>
                  <a:srgbClr val="C4D0E6"/>
                </a:solidFill>
                <a:latin typeface="Calibri" pitchFamily="34" charset="0"/>
                <a:ea typeface="Calibri" pitchFamily="34" charset="-122"/>
                <a:cs typeface="Calibri" pitchFamily="34" charset="-120"/>
              </a:rPr>
              <a:t>Proportion of junior vs senior roles—informs hiring pipelines and training needs.</a:t>
            </a:r>
            <a:endParaRPr lang="en-US" sz="1000" dirty="0"/>
          </a:p>
        </p:txBody>
      </p:sp>
      <p:sp>
        <p:nvSpPr>
          <p:cNvPr id="30" name="Text 28"/>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5B6B87"/>
                </a:solidFill>
                <a:latin typeface="Calibri" pitchFamily="34" charset="0"/>
                <a:ea typeface="Calibri" pitchFamily="34" charset="-122"/>
                <a:cs typeface="Calibri" pitchFamily="34" charset="-120"/>
              </a:rPr>
              <a:t>10</a:t>
            </a:r>
            <a:endParaRPr lang="en-US" sz="1000" dirty="0"/>
          </a:p>
        </p:txBody>
      </p:sp>
      <p:sp>
        <p:nvSpPr>
          <p:cNvPr id="31" name="Text 29"/>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A9B4C8"/>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78F83"/>
                </a:solidFill>
                <a:latin typeface="Calibri" pitchFamily="34" charset="0"/>
                <a:ea typeface="Calibri" pitchFamily="34" charset="-122"/>
                <a:cs typeface="Calibri" pitchFamily="34" charset="-120"/>
              </a:rPr>
              <a:t>11 — ROADBLOCKS</a:t>
            </a:r>
            <a:endParaRPr lang="en-US" sz="1200" dirty="0"/>
          </a:p>
        </p:txBody>
      </p:sp>
      <p:sp>
        <p:nvSpPr>
          <p:cNvPr id="3" name="Text 1"/>
          <p:cNvSpPr/>
          <p:nvPr/>
        </p:nvSpPr>
        <p:spPr>
          <a:xfrm>
            <a:off x="548640" y="713232"/>
            <a:ext cx="8686800" cy="640080"/>
          </a:xfrm>
          <a:prstGeom prst="rect">
            <a:avLst/>
          </a:prstGeom>
          <a:noFill/>
          <a:ln/>
        </p:spPr>
        <p:txBody>
          <a:bodyPr wrap="square" lIns="0" tIns="0" rIns="0" bIns="0" rtlCol="0" anchor="ctr"/>
          <a:lstStyle/>
          <a:p>
            <a:pPr marL="0" indent="0">
              <a:buNone/>
            </a:pPr>
            <a:r>
              <a:rPr lang="en-US" sz="3000" b="1" dirty="0">
                <a:solidFill>
                  <a:srgbClr val="16213E"/>
                </a:solidFill>
                <a:latin typeface="Cambria" pitchFamily="34" charset="0"/>
                <a:ea typeface="Cambria" pitchFamily="34" charset="-122"/>
                <a:cs typeface="Cambria" pitchFamily="34" charset="-120"/>
              </a:rPr>
              <a:t>Challenges Faced</a:t>
            </a:r>
            <a:endParaRPr lang="en-US" sz="3000" dirty="0"/>
          </a:p>
        </p:txBody>
      </p:sp>
      <p:sp>
        <p:nvSpPr>
          <p:cNvPr id="4" name="Shape 2"/>
          <p:cNvSpPr/>
          <p:nvPr/>
        </p:nvSpPr>
        <p:spPr>
          <a:xfrm>
            <a:off x="548640" y="1600200"/>
            <a:ext cx="3429000" cy="2286000"/>
          </a:xfrm>
          <a:prstGeom prst="roundRect">
            <a:avLst>
              <a:gd name="adj" fmla="val 3200"/>
            </a:avLst>
          </a:prstGeom>
          <a:solidFill>
            <a:srgbClr val="FFFFFF"/>
          </a:solidFill>
          <a:ln/>
          <a:effectLst>
            <a:outerShdw blurRad="76200" dist="25400" dir="5400000" algn="bl" rotWithShape="0">
              <a:srgbClr val="1C2B4A">
                <a:alpha val="10000"/>
              </a:srgbClr>
            </a:outerShdw>
          </a:effectLst>
        </p:spPr>
      </p:sp>
      <p:sp>
        <p:nvSpPr>
          <p:cNvPr id="5" name="Text 3"/>
          <p:cNvSpPr/>
          <p:nvPr/>
        </p:nvSpPr>
        <p:spPr>
          <a:xfrm>
            <a:off x="777240" y="1801368"/>
            <a:ext cx="2971800" cy="457200"/>
          </a:xfrm>
          <a:prstGeom prst="rect">
            <a:avLst/>
          </a:prstGeom>
          <a:noFill/>
          <a:ln/>
        </p:spPr>
        <p:txBody>
          <a:bodyPr wrap="square" lIns="0" tIns="0" rIns="0" bIns="0" rtlCol="0" anchor="ctr"/>
          <a:lstStyle/>
          <a:p>
            <a:pPr marL="0" indent="0">
              <a:buNone/>
            </a:pPr>
            <a:r>
              <a:rPr lang="en-US" sz="1400" b="1" dirty="0">
                <a:solidFill>
                  <a:srgbClr val="078F83"/>
                </a:solidFill>
                <a:latin typeface="Calibri" pitchFamily="34" charset="0"/>
                <a:ea typeface="Calibri" pitchFamily="34" charset="-122"/>
                <a:cs typeface="Calibri" pitchFamily="34" charset="-120"/>
              </a:rPr>
              <a:t>Missing values</a:t>
            </a:r>
            <a:endParaRPr lang="en-US" sz="1400" dirty="0"/>
          </a:p>
        </p:txBody>
      </p:sp>
      <p:sp>
        <p:nvSpPr>
          <p:cNvPr id="6" name="Text 4"/>
          <p:cNvSpPr/>
          <p:nvPr/>
        </p:nvSpPr>
        <p:spPr>
          <a:xfrm>
            <a:off x="777240" y="2377440"/>
            <a:ext cx="2971800" cy="1371600"/>
          </a:xfrm>
          <a:prstGeom prst="rect">
            <a:avLst/>
          </a:prstGeom>
          <a:noFill/>
          <a:ln/>
        </p:spPr>
        <p:txBody>
          <a:bodyPr wrap="square" lIns="0" tIns="0" rIns="0" bIns="0" rtlCol="0" anchor="ctr"/>
          <a:lstStyle/>
          <a:p>
            <a:pPr marL="0" indent="0">
              <a:lnSpc>
                <a:spcPct val="130000"/>
              </a:lnSpc>
              <a:buNone/>
            </a:pPr>
            <a:r>
              <a:rPr lang="en-US" sz="1150" dirty="0">
                <a:solidFill>
                  <a:srgbClr val="5B6B87"/>
                </a:solidFill>
                <a:latin typeface="Calibri" pitchFamily="34" charset="0"/>
                <a:ea typeface="Calibri" pitchFamily="34" charset="-122"/>
                <a:cs typeface="Calibri" pitchFamily="34" charset="-120"/>
              </a:rPr>
              <a:t>Salary and location were often incomplete, requiring careful imputations and filtering to avoid bias.</a:t>
            </a:r>
            <a:endParaRPr lang="en-US" sz="1150" dirty="0"/>
          </a:p>
        </p:txBody>
      </p:sp>
      <p:sp>
        <p:nvSpPr>
          <p:cNvPr id="7" name="Shape 5"/>
          <p:cNvSpPr/>
          <p:nvPr/>
        </p:nvSpPr>
        <p:spPr>
          <a:xfrm>
            <a:off x="548640" y="4114800"/>
            <a:ext cx="3429000" cy="2286000"/>
          </a:xfrm>
          <a:prstGeom prst="roundRect">
            <a:avLst>
              <a:gd name="adj" fmla="val 3200"/>
            </a:avLst>
          </a:prstGeom>
          <a:solidFill>
            <a:srgbClr val="FFFFFF"/>
          </a:solidFill>
          <a:ln/>
          <a:effectLst>
            <a:outerShdw blurRad="76200" dist="25400" dir="5400000" algn="bl" rotWithShape="0">
              <a:srgbClr val="1C2B4A">
                <a:alpha val="10000"/>
              </a:srgbClr>
            </a:outerShdw>
          </a:effectLst>
        </p:spPr>
      </p:sp>
      <p:sp>
        <p:nvSpPr>
          <p:cNvPr id="8" name="Text 6"/>
          <p:cNvSpPr/>
          <p:nvPr/>
        </p:nvSpPr>
        <p:spPr>
          <a:xfrm>
            <a:off x="777240" y="4315968"/>
            <a:ext cx="2971800" cy="1920240"/>
          </a:xfrm>
          <a:prstGeom prst="rect">
            <a:avLst/>
          </a:prstGeom>
          <a:noFill/>
          <a:ln/>
        </p:spPr>
        <p:txBody>
          <a:bodyPr wrap="square" lIns="0" tIns="0" rIns="0" bIns="0" rtlCol="0" anchor="ctr"/>
          <a:lstStyle/>
          <a:p>
            <a:pPr marL="0" indent="0">
              <a:lnSpc>
                <a:spcPct val="130000"/>
              </a:lnSpc>
              <a:buNone/>
            </a:pPr>
            <a:r>
              <a:rPr lang="en-US" sz="1300" i="1" dirty="0">
                <a:solidFill>
                  <a:srgbClr val="16213E"/>
                </a:solidFill>
                <a:latin typeface="Calibri" pitchFamily="34" charset="0"/>
                <a:ea typeface="Calibri" pitchFamily="34" charset="-122"/>
                <a:cs typeface="Calibri" pitchFamily="34" charset="-120"/>
              </a:rPr>
              <a:t>Selecting the most suitable charts for clear and meaningful data representation.</a:t>
            </a:r>
            <a:endParaRPr lang="en-US" sz="1300" dirty="0"/>
          </a:p>
        </p:txBody>
      </p:sp>
      <p:sp>
        <p:nvSpPr>
          <p:cNvPr id="9" name="Shape 7"/>
          <p:cNvSpPr/>
          <p:nvPr/>
        </p:nvSpPr>
        <p:spPr>
          <a:xfrm>
            <a:off x="4160520" y="1600200"/>
            <a:ext cx="3429000" cy="2286000"/>
          </a:xfrm>
          <a:prstGeom prst="roundRect">
            <a:avLst>
              <a:gd name="adj" fmla="val 3200"/>
            </a:avLst>
          </a:prstGeom>
          <a:solidFill>
            <a:srgbClr val="FFFFFF"/>
          </a:solidFill>
          <a:ln/>
          <a:effectLst>
            <a:outerShdw blurRad="76200" dist="25400" dir="5400000" algn="bl" rotWithShape="0">
              <a:srgbClr val="1C2B4A">
                <a:alpha val="10000"/>
              </a:srgbClr>
            </a:outerShdw>
          </a:effectLst>
        </p:spPr>
      </p:sp>
      <p:sp>
        <p:nvSpPr>
          <p:cNvPr id="10" name="Text 8"/>
          <p:cNvSpPr/>
          <p:nvPr/>
        </p:nvSpPr>
        <p:spPr>
          <a:xfrm>
            <a:off x="4389120" y="1801368"/>
            <a:ext cx="2971800" cy="457200"/>
          </a:xfrm>
          <a:prstGeom prst="rect">
            <a:avLst/>
          </a:prstGeom>
          <a:noFill/>
          <a:ln/>
        </p:spPr>
        <p:txBody>
          <a:bodyPr wrap="square" lIns="0" tIns="0" rIns="0" bIns="0" rtlCol="0" anchor="ctr"/>
          <a:lstStyle/>
          <a:p>
            <a:pPr marL="0" indent="0">
              <a:buNone/>
            </a:pPr>
            <a:r>
              <a:rPr lang="en-US" sz="1400" b="1" dirty="0">
                <a:solidFill>
                  <a:srgbClr val="078F83"/>
                </a:solidFill>
                <a:latin typeface="Calibri" pitchFamily="34" charset="0"/>
                <a:ea typeface="Calibri" pitchFamily="34" charset="-122"/>
                <a:cs typeface="Calibri" pitchFamily="34" charset="-120"/>
              </a:rPr>
              <a:t>Data cleaning complexity</a:t>
            </a:r>
            <a:endParaRPr lang="en-US" sz="1400" dirty="0"/>
          </a:p>
        </p:txBody>
      </p:sp>
      <p:sp>
        <p:nvSpPr>
          <p:cNvPr id="11" name="Text 9"/>
          <p:cNvSpPr/>
          <p:nvPr/>
        </p:nvSpPr>
        <p:spPr>
          <a:xfrm>
            <a:off x="4389120" y="2377440"/>
            <a:ext cx="2971800" cy="1371600"/>
          </a:xfrm>
          <a:prstGeom prst="rect">
            <a:avLst/>
          </a:prstGeom>
          <a:noFill/>
          <a:ln/>
        </p:spPr>
        <p:txBody>
          <a:bodyPr wrap="square" lIns="0" tIns="0" rIns="0" bIns="0" rtlCol="0" anchor="ctr"/>
          <a:lstStyle/>
          <a:p>
            <a:pPr marL="0" indent="0">
              <a:lnSpc>
                <a:spcPct val="130000"/>
              </a:lnSpc>
              <a:buNone/>
            </a:pPr>
            <a:r>
              <a:rPr lang="en-US" sz="1150" dirty="0">
                <a:solidFill>
                  <a:srgbClr val="5B6B87"/>
                </a:solidFill>
                <a:latin typeface="Calibri" pitchFamily="34" charset="0"/>
                <a:ea typeface="Calibri" pitchFamily="34" charset="-122"/>
                <a:cs typeface="Calibri" pitchFamily="34" charset="-120"/>
              </a:rPr>
              <a:t>Inconsistent job titles and skill spellings required normalization and mapping rules to aggregate correctly.</a:t>
            </a:r>
            <a:endParaRPr lang="en-US" sz="1150" dirty="0"/>
          </a:p>
        </p:txBody>
      </p:sp>
      <p:sp>
        <p:nvSpPr>
          <p:cNvPr id="12" name="Shape 10"/>
          <p:cNvSpPr/>
          <p:nvPr/>
        </p:nvSpPr>
        <p:spPr>
          <a:xfrm>
            <a:off x="4160520" y="4114800"/>
            <a:ext cx="3429000" cy="2286000"/>
          </a:xfrm>
          <a:prstGeom prst="roundRect">
            <a:avLst>
              <a:gd name="adj" fmla="val 3200"/>
            </a:avLst>
          </a:prstGeom>
          <a:solidFill>
            <a:srgbClr val="FFFFFF"/>
          </a:solidFill>
          <a:ln/>
          <a:effectLst>
            <a:outerShdw blurRad="76200" dist="25400" dir="5400000" algn="bl" rotWithShape="0">
              <a:srgbClr val="1C2B4A">
                <a:alpha val="10000"/>
              </a:srgbClr>
            </a:outerShdw>
          </a:effectLst>
        </p:spPr>
      </p:sp>
      <p:sp>
        <p:nvSpPr>
          <p:cNvPr id="13" name="Text 11"/>
          <p:cNvSpPr/>
          <p:nvPr/>
        </p:nvSpPr>
        <p:spPr>
          <a:xfrm>
            <a:off x="4389120" y="4315968"/>
            <a:ext cx="2971800" cy="1920240"/>
          </a:xfrm>
          <a:prstGeom prst="rect">
            <a:avLst/>
          </a:prstGeom>
          <a:noFill/>
          <a:ln/>
        </p:spPr>
        <p:txBody>
          <a:bodyPr wrap="square" lIns="0" tIns="0" rIns="0" bIns="0" rtlCol="0" anchor="ctr"/>
          <a:lstStyle/>
          <a:p>
            <a:pPr marL="0" indent="0">
              <a:lnSpc>
                <a:spcPct val="130000"/>
              </a:lnSpc>
              <a:buNone/>
            </a:pPr>
            <a:r>
              <a:rPr lang="en-US" sz="1300" i="1" dirty="0">
                <a:solidFill>
                  <a:srgbClr val="16213E"/>
                </a:solidFill>
                <a:latin typeface="Calibri" pitchFamily="34" charset="0"/>
                <a:ea typeface="Calibri" pitchFamily="34" charset="-122"/>
                <a:cs typeface="Calibri" pitchFamily="34" charset="-120"/>
              </a:rPr>
              <a:t>Presenting the findings in a simple and meaningful way</a:t>
            </a:r>
            <a:endParaRPr lang="en-US" sz="1300" dirty="0"/>
          </a:p>
        </p:txBody>
      </p:sp>
      <p:sp>
        <p:nvSpPr>
          <p:cNvPr id="14" name="Shape 12"/>
          <p:cNvSpPr/>
          <p:nvPr/>
        </p:nvSpPr>
        <p:spPr>
          <a:xfrm>
            <a:off x="7772400" y="1600200"/>
            <a:ext cx="3429000" cy="2286000"/>
          </a:xfrm>
          <a:prstGeom prst="roundRect">
            <a:avLst>
              <a:gd name="adj" fmla="val 3200"/>
            </a:avLst>
          </a:prstGeom>
          <a:solidFill>
            <a:srgbClr val="FFFFFF"/>
          </a:solidFill>
          <a:ln/>
          <a:effectLst>
            <a:outerShdw blurRad="76200" dist="25400" dir="5400000" algn="bl" rotWithShape="0">
              <a:srgbClr val="1C2B4A">
                <a:alpha val="10000"/>
              </a:srgbClr>
            </a:outerShdw>
          </a:effectLst>
        </p:spPr>
      </p:sp>
      <p:sp>
        <p:nvSpPr>
          <p:cNvPr id="15" name="Text 13"/>
          <p:cNvSpPr/>
          <p:nvPr/>
        </p:nvSpPr>
        <p:spPr>
          <a:xfrm>
            <a:off x="8001000" y="1801368"/>
            <a:ext cx="2971800" cy="457200"/>
          </a:xfrm>
          <a:prstGeom prst="rect">
            <a:avLst/>
          </a:prstGeom>
          <a:noFill/>
          <a:ln/>
        </p:spPr>
        <p:txBody>
          <a:bodyPr wrap="square" lIns="0" tIns="0" rIns="0" bIns="0" rtlCol="0" anchor="ctr"/>
          <a:lstStyle/>
          <a:p>
            <a:pPr marL="0" indent="0">
              <a:buNone/>
            </a:pPr>
            <a:r>
              <a:rPr lang="en-US" sz="1400" b="1" dirty="0">
                <a:solidFill>
                  <a:srgbClr val="078F83"/>
                </a:solidFill>
                <a:latin typeface="Calibri" pitchFamily="34" charset="0"/>
                <a:ea typeface="Calibri" pitchFamily="34" charset="-122"/>
                <a:cs typeface="Calibri" pitchFamily="34" charset="-120"/>
              </a:rPr>
              <a:t>Handling scale</a:t>
            </a:r>
            <a:endParaRPr lang="en-US" sz="1400" dirty="0"/>
          </a:p>
        </p:txBody>
      </p:sp>
      <p:sp>
        <p:nvSpPr>
          <p:cNvPr id="16" name="Text 14"/>
          <p:cNvSpPr/>
          <p:nvPr/>
        </p:nvSpPr>
        <p:spPr>
          <a:xfrm>
            <a:off x="8001000" y="2377440"/>
            <a:ext cx="2971800" cy="1371600"/>
          </a:xfrm>
          <a:prstGeom prst="rect">
            <a:avLst/>
          </a:prstGeom>
          <a:noFill/>
          <a:ln/>
        </p:spPr>
        <p:txBody>
          <a:bodyPr wrap="square" lIns="0" tIns="0" rIns="0" bIns="0" rtlCol="0" anchor="ctr"/>
          <a:lstStyle/>
          <a:p>
            <a:pPr marL="0" indent="0">
              <a:lnSpc>
                <a:spcPct val="130000"/>
              </a:lnSpc>
              <a:buNone/>
            </a:pPr>
            <a:r>
              <a:rPr lang="en-US" sz="1150" dirty="0">
                <a:solidFill>
                  <a:srgbClr val="5B6B87"/>
                </a:solidFill>
                <a:latin typeface="Calibri" pitchFamily="34" charset="0"/>
                <a:ea typeface="Calibri" pitchFamily="34" charset="-122"/>
                <a:cs typeface="Calibri" pitchFamily="34" charset="-120"/>
              </a:rPr>
              <a:t>Large row counts required memory-efficient processing and occasional sampling for exploratory plots.</a:t>
            </a:r>
            <a:endParaRPr lang="en-US" sz="1150" dirty="0"/>
          </a:p>
        </p:txBody>
      </p:sp>
      <p:sp>
        <p:nvSpPr>
          <p:cNvPr id="17" name="Shape 15"/>
          <p:cNvSpPr/>
          <p:nvPr/>
        </p:nvSpPr>
        <p:spPr>
          <a:xfrm>
            <a:off x="7772400" y="4114800"/>
            <a:ext cx="3429000" cy="2286000"/>
          </a:xfrm>
          <a:prstGeom prst="roundRect">
            <a:avLst>
              <a:gd name="adj" fmla="val 3200"/>
            </a:avLst>
          </a:prstGeom>
          <a:solidFill>
            <a:srgbClr val="FFFFFF"/>
          </a:solidFill>
          <a:ln/>
          <a:effectLst>
            <a:outerShdw blurRad="76200" dist="25400" dir="5400000" algn="bl" rotWithShape="0">
              <a:srgbClr val="1C2B4A">
                <a:alpha val="10000"/>
              </a:srgbClr>
            </a:outerShdw>
          </a:effectLst>
        </p:spPr>
      </p:sp>
      <p:sp>
        <p:nvSpPr>
          <p:cNvPr id="18" name="Text 16"/>
          <p:cNvSpPr/>
          <p:nvPr/>
        </p:nvSpPr>
        <p:spPr>
          <a:xfrm>
            <a:off x="8001000" y="4315968"/>
            <a:ext cx="2971800" cy="1920240"/>
          </a:xfrm>
          <a:prstGeom prst="rect">
            <a:avLst/>
          </a:prstGeom>
          <a:noFill/>
          <a:ln/>
        </p:spPr>
        <p:txBody>
          <a:bodyPr wrap="square" lIns="0" tIns="0" rIns="0" bIns="0" rtlCol="0" anchor="ctr"/>
          <a:lstStyle/>
          <a:p>
            <a:pPr marL="0" indent="0">
              <a:lnSpc>
                <a:spcPct val="130000"/>
              </a:lnSpc>
              <a:buNone/>
            </a:pPr>
            <a:r>
              <a:rPr lang="en-US" sz="1300" i="1" dirty="0">
                <a:solidFill>
                  <a:srgbClr val="16213E"/>
                </a:solidFill>
                <a:latin typeface="Calibri" pitchFamily="34" charset="0"/>
                <a:ea typeface="Calibri" pitchFamily="34" charset="-122"/>
                <a:cs typeface="Calibri" pitchFamily="34" charset="-120"/>
              </a:rPr>
              <a:t>Understanding relationships between different variables.</a:t>
            </a:r>
            <a:endParaRPr lang="en-US" sz="1300" dirty="0"/>
          </a:p>
        </p:txBody>
      </p:sp>
      <p:sp>
        <p:nvSpPr>
          <p:cNvPr id="19" name="Text 17"/>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5B6B87"/>
                </a:solidFill>
                <a:latin typeface="Calibri" pitchFamily="34" charset="0"/>
                <a:ea typeface="Calibri" pitchFamily="34" charset="-122"/>
                <a:cs typeface="Calibri" pitchFamily="34" charset="-120"/>
              </a:rPr>
              <a:t>11</a:t>
            </a:r>
            <a:endParaRPr lang="en-US" sz="1000" dirty="0"/>
          </a:p>
        </p:txBody>
      </p:sp>
      <p:sp>
        <p:nvSpPr>
          <p:cNvPr id="20" name="Text 18"/>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A9B4C8"/>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78F83"/>
                </a:solidFill>
                <a:latin typeface="Calibri" pitchFamily="34" charset="0"/>
                <a:ea typeface="Calibri" pitchFamily="34" charset="-122"/>
                <a:cs typeface="Calibri" pitchFamily="34" charset="-120"/>
              </a:rPr>
              <a:t>12 — RESULTS</a:t>
            </a:r>
            <a:endParaRPr lang="en-US" sz="1200" dirty="0"/>
          </a:p>
        </p:txBody>
      </p:sp>
      <p:sp>
        <p:nvSpPr>
          <p:cNvPr id="3" name="Text 1"/>
          <p:cNvSpPr/>
          <p:nvPr/>
        </p:nvSpPr>
        <p:spPr>
          <a:xfrm>
            <a:off x="548640" y="713232"/>
            <a:ext cx="8686800" cy="640080"/>
          </a:xfrm>
          <a:prstGeom prst="rect">
            <a:avLst/>
          </a:prstGeom>
          <a:noFill/>
          <a:ln/>
        </p:spPr>
        <p:txBody>
          <a:bodyPr wrap="square" lIns="0" tIns="0" rIns="0" bIns="0" rtlCol="0" anchor="ctr"/>
          <a:lstStyle/>
          <a:p>
            <a:pPr marL="0" indent="0">
              <a:buNone/>
            </a:pPr>
            <a:r>
              <a:rPr lang="en-US" sz="3000" b="1" dirty="0">
                <a:solidFill>
                  <a:srgbClr val="16213E"/>
                </a:solidFill>
                <a:latin typeface="Cambria" pitchFamily="34" charset="0"/>
                <a:ea typeface="Cambria" pitchFamily="34" charset="-122"/>
                <a:cs typeface="Cambria" pitchFamily="34" charset="-120"/>
              </a:rPr>
              <a:t>Key findings:</a:t>
            </a:r>
            <a:endParaRPr lang="en-US" sz="3000" dirty="0"/>
          </a:p>
        </p:txBody>
      </p:sp>
      <p:sp>
        <p:nvSpPr>
          <p:cNvPr id="4" name="Text 2"/>
          <p:cNvSpPr/>
          <p:nvPr/>
        </p:nvSpPr>
        <p:spPr>
          <a:xfrm>
            <a:off x="548640" y="1463040"/>
            <a:ext cx="10515600" cy="365760"/>
          </a:xfrm>
          <a:prstGeom prst="rect">
            <a:avLst/>
          </a:prstGeom>
          <a:noFill/>
          <a:ln/>
        </p:spPr>
        <p:txBody>
          <a:bodyPr wrap="square" lIns="0" tIns="0" rIns="0" bIns="0" rtlCol="0" anchor="ctr"/>
          <a:lstStyle/>
          <a:p>
            <a:pPr marL="0" indent="0">
              <a:buNone/>
            </a:pPr>
            <a:r>
              <a:rPr lang="en-US" sz="1300" dirty="0">
                <a:solidFill>
                  <a:srgbClr val="5B6B87"/>
                </a:solidFill>
                <a:latin typeface="Calibri" pitchFamily="34" charset="0"/>
                <a:ea typeface="Calibri" pitchFamily="34" charset="-122"/>
                <a:cs typeface="Calibri" pitchFamily="34" charset="-120"/>
              </a:rPr>
              <a:t>The analysis revealed several interesting findings:</a:t>
            </a:r>
            <a:endParaRPr lang="en-US" sz="1300" dirty="0"/>
          </a:p>
        </p:txBody>
      </p:sp>
      <p:sp>
        <p:nvSpPr>
          <p:cNvPr id="5" name="Shape 3"/>
          <p:cNvSpPr/>
          <p:nvPr/>
        </p:nvSpPr>
        <p:spPr>
          <a:xfrm>
            <a:off x="548640" y="2057400"/>
            <a:ext cx="10881360" cy="749808"/>
          </a:xfrm>
          <a:prstGeom prst="roundRect">
            <a:avLst>
              <a:gd name="adj" fmla="val 8537"/>
            </a:avLst>
          </a:prstGeom>
          <a:solidFill>
            <a:srgbClr val="FFFFFF"/>
          </a:solidFill>
          <a:ln/>
          <a:effectLst>
            <a:outerShdw blurRad="63500" dist="25400" dir="5400000" algn="bl" rotWithShape="0">
              <a:srgbClr val="1C2B4A">
                <a:alpha val="8000"/>
              </a:srgbClr>
            </a:outerShdw>
          </a:effectLst>
        </p:spPr>
      </p:sp>
      <p:sp>
        <p:nvSpPr>
          <p:cNvPr id="6" name="Shape 4"/>
          <p:cNvSpPr/>
          <p:nvPr/>
        </p:nvSpPr>
        <p:spPr>
          <a:xfrm>
            <a:off x="777240" y="2231136"/>
            <a:ext cx="402336" cy="402336"/>
          </a:xfrm>
          <a:prstGeom prst="ellipse">
            <a:avLst/>
          </a:prstGeom>
          <a:solidFill>
            <a:srgbClr val="00B8A9"/>
          </a:solidFill>
          <a:ln/>
        </p:spPr>
      </p:sp>
      <p:sp>
        <p:nvSpPr>
          <p:cNvPr id="7" name="Text 5"/>
          <p:cNvSpPr/>
          <p:nvPr/>
        </p:nvSpPr>
        <p:spPr>
          <a:xfrm>
            <a:off x="777240" y="223113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371600" y="2057400"/>
            <a:ext cx="9784080" cy="749808"/>
          </a:xfrm>
          <a:prstGeom prst="rect">
            <a:avLst/>
          </a:prstGeom>
          <a:noFill/>
          <a:ln/>
        </p:spPr>
        <p:txBody>
          <a:bodyPr wrap="square" lIns="0" tIns="0" rIns="0" bIns="0" rtlCol="0" anchor="ctr"/>
          <a:lstStyle/>
          <a:p>
            <a:pPr marL="0" indent="0">
              <a:buNone/>
            </a:pPr>
            <a:r>
              <a:rPr lang="en-US" sz="1400" dirty="0">
                <a:solidFill>
                  <a:srgbClr val="16213E"/>
                </a:solidFill>
                <a:latin typeface="Calibri" pitchFamily="34" charset="0"/>
                <a:ea typeface="Calibri" pitchFamily="34" charset="-122"/>
                <a:cs typeface="Calibri" pitchFamily="34" charset="-120"/>
              </a:rPr>
              <a:t>AI-related jobs are growing rapidly across the world.</a:t>
            </a:r>
            <a:endParaRPr lang="en-US" sz="1400" dirty="0"/>
          </a:p>
        </p:txBody>
      </p:sp>
      <p:sp>
        <p:nvSpPr>
          <p:cNvPr id="9" name="Shape 7"/>
          <p:cNvSpPr/>
          <p:nvPr/>
        </p:nvSpPr>
        <p:spPr>
          <a:xfrm>
            <a:off x="548640" y="2953512"/>
            <a:ext cx="10881360" cy="749808"/>
          </a:xfrm>
          <a:prstGeom prst="roundRect">
            <a:avLst>
              <a:gd name="adj" fmla="val 8537"/>
            </a:avLst>
          </a:prstGeom>
          <a:solidFill>
            <a:srgbClr val="E6F7F5"/>
          </a:solidFill>
          <a:ln/>
          <a:effectLst>
            <a:outerShdw blurRad="63500" dist="25400" dir="5400000" algn="bl" rotWithShape="0">
              <a:srgbClr val="1C2B4A">
                <a:alpha val="8000"/>
              </a:srgbClr>
            </a:outerShdw>
          </a:effectLst>
        </p:spPr>
      </p:sp>
      <p:sp>
        <p:nvSpPr>
          <p:cNvPr id="10" name="Shape 8"/>
          <p:cNvSpPr/>
          <p:nvPr/>
        </p:nvSpPr>
        <p:spPr>
          <a:xfrm>
            <a:off x="777240" y="3127248"/>
            <a:ext cx="402336" cy="402336"/>
          </a:xfrm>
          <a:prstGeom prst="ellipse">
            <a:avLst/>
          </a:prstGeom>
          <a:solidFill>
            <a:srgbClr val="00B8A9"/>
          </a:solidFill>
          <a:ln/>
        </p:spPr>
      </p:sp>
      <p:sp>
        <p:nvSpPr>
          <p:cNvPr id="11" name="Text 9"/>
          <p:cNvSpPr/>
          <p:nvPr/>
        </p:nvSpPr>
        <p:spPr>
          <a:xfrm>
            <a:off x="777240" y="31272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71600" y="2953512"/>
            <a:ext cx="9784080" cy="749808"/>
          </a:xfrm>
          <a:prstGeom prst="rect">
            <a:avLst/>
          </a:prstGeom>
          <a:noFill/>
          <a:ln/>
        </p:spPr>
        <p:txBody>
          <a:bodyPr wrap="square" lIns="0" tIns="0" rIns="0" bIns="0" rtlCol="0" anchor="ctr"/>
          <a:lstStyle/>
          <a:p>
            <a:pPr marL="0" indent="0">
              <a:buNone/>
            </a:pPr>
            <a:r>
              <a:rPr lang="en-US" sz="1400" dirty="0">
                <a:solidFill>
                  <a:srgbClr val="16213E"/>
                </a:solidFill>
                <a:latin typeface="Calibri" pitchFamily="34" charset="0"/>
                <a:ea typeface="Calibri" pitchFamily="34" charset="-122"/>
                <a:cs typeface="Calibri" pitchFamily="34" charset="-120"/>
              </a:rPr>
              <a:t>Higher experience generally leads to higher salaries.</a:t>
            </a:r>
            <a:endParaRPr lang="en-US" sz="1400" dirty="0"/>
          </a:p>
        </p:txBody>
      </p:sp>
      <p:sp>
        <p:nvSpPr>
          <p:cNvPr id="13" name="Shape 11"/>
          <p:cNvSpPr/>
          <p:nvPr/>
        </p:nvSpPr>
        <p:spPr>
          <a:xfrm>
            <a:off x="548640" y="3849624"/>
            <a:ext cx="10881360" cy="749808"/>
          </a:xfrm>
          <a:prstGeom prst="roundRect">
            <a:avLst>
              <a:gd name="adj" fmla="val 8537"/>
            </a:avLst>
          </a:prstGeom>
          <a:solidFill>
            <a:srgbClr val="FFFFFF"/>
          </a:solidFill>
          <a:ln/>
          <a:effectLst>
            <a:outerShdw blurRad="63500" dist="25400" dir="5400000" algn="bl" rotWithShape="0">
              <a:srgbClr val="1C2B4A">
                <a:alpha val="8000"/>
              </a:srgbClr>
            </a:outerShdw>
          </a:effectLst>
        </p:spPr>
      </p:sp>
      <p:sp>
        <p:nvSpPr>
          <p:cNvPr id="14" name="Shape 12"/>
          <p:cNvSpPr/>
          <p:nvPr/>
        </p:nvSpPr>
        <p:spPr>
          <a:xfrm>
            <a:off x="777240" y="4023360"/>
            <a:ext cx="402336" cy="402336"/>
          </a:xfrm>
          <a:prstGeom prst="ellipse">
            <a:avLst/>
          </a:prstGeom>
          <a:solidFill>
            <a:srgbClr val="00B8A9"/>
          </a:solidFill>
          <a:ln/>
        </p:spPr>
      </p:sp>
      <p:sp>
        <p:nvSpPr>
          <p:cNvPr id="15" name="Text 13"/>
          <p:cNvSpPr/>
          <p:nvPr/>
        </p:nvSpPr>
        <p:spPr>
          <a:xfrm>
            <a:off x="777240" y="40233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371600" y="3849624"/>
            <a:ext cx="9784080" cy="749808"/>
          </a:xfrm>
          <a:prstGeom prst="rect">
            <a:avLst/>
          </a:prstGeom>
          <a:noFill/>
          <a:ln/>
        </p:spPr>
        <p:txBody>
          <a:bodyPr wrap="square" lIns="0" tIns="0" rIns="0" bIns="0" rtlCol="0" anchor="ctr"/>
          <a:lstStyle/>
          <a:p>
            <a:pPr marL="0" indent="0">
              <a:buNone/>
            </a:pPr>
            <a:r>
              <a:rPr lang="en-US" sz="1400" dirty="0">
                <a:solidFill>
                  <a:srgbClr val="16213E"/>
                </a:solidFill>
                <a:latin typeface="Calibri" pitchFamily="34" charset="0"/>
                <a:ea typeface="Calibri" pitchFamily="34" charset="-122"/>
                <a:cs typeface="Calibri" pitchFamily="34" charset="-120"/>
              </a:rPr>
              <a:t>Some countries have a much greater demand for AI professionals.</a:t>
            </a:r>
            <a:endParaRPr lang="en-US" sz="1400" dirty="0"/>
          </a:p>
        </p:txBody>
      </p:sp>
      <p:sp>
        <p:nvSpPr>
          <p:cNvPr id="17" name="Shape 15"/>
          <p:cNvSpPr/>
          <p:nvPr/>
        </p:nvSpPr>
        <p:spPr>
          <a:xfrm>
            <a:off x="548640" y="4745736"/>
            <a:ext cx="10881360" cy="749808"/>
          </a:xfrm>
          <a:prstGeom prst="roundRect">
            <a:avLst>
              <a:gd name="adj" fmla="val 8537"/>
            </a:avLst>
          </a:prstGeom>
          <a:solidFill>
            <a:srgbClr val="E6F7F5"/>
          </a:solidFill>
          <a:ln/>
          <a:effectLst>
            <a:outerShdw blurRad="63500" dist="25400" dir="5400000" algn="bl" rotWithShape="0">
              <a:srgbClr val="1C2B4A">
                <a:alpha val="8000"/>
              </a:srgbClr>
            </a:outerShdw>
          </a:effectLst>
        </p:spPr>
      </p:sp>
      <p:sp>
        <p:nvSpPr>
          <p:cNvPr id="18" name="Shape 16"/>
          <p:cNvSpPr/>
          <p:nvPr/>
        </p:nvSpPr>
        <p:spPr>
          <a:xfrm>
            <a:off x="777240" y="4919472"/>
            <a:ext cx="402336" cy="402336"/>
          </a:xfrm>
          <a:prstGeom prst="ellipse">
            <a:avLst/>
          </a:prstGeom>
          <a:solidFill>
            <a:srgbClr val="00B8A9"/>
          </a:solidFill>
          <a:ln/>
        </p:spPr>
      </p:sp>
      <p:sp>
        <p:nvSpPr>
          <p:cNvPr id="19" name="Text 17"/>
          <p:cNvSpPr/>
          <p:nvPr/>
        </p:nvSpPr>
        <p:spPr>
          <a:xfrm>
            <a:off x="777240" y="491947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1371600" y="4745736"/>
            <a:ext cx="9784080" cy="749808"/>
          </a:xfrm>
          <a:prstGeom prst="rect">
            <a:avLst/>
          </a:prstGeom>
          <a:noFill/>
          <a:ln/>
        </p:spPr>
        <p:txBody>
          <a:bodyPr wrap="square" lIns="0" tIns="0" rIns="0" bIns="0" rtlCol="0" anchor="ctr"/>
          <a:lstStyle/>
          <a:p>
            <a:pPr marL="0" indent="0">
              <a:buNone/>
            </a:pPr>
            <a:r>
              <a:rPr lang="en-US" sz="1400" dirty="0">
                <a:solidFill>
                  <a:srgbClr val="16213E"/>
                </a:solidFill>
                <a:latin typeface="Calibri" pitchFamily="34" charset="0"/>
                <a:ea typeface="Calibri" pitchFamily="34" charset="-122"/>
                <a:cs typeface="Calibri" pitchFamily="34" charset="-120"/>
              </a:rPr>
              <a:t>Remote work opportunities have increased significantly.</a:t>
            </a:r>
            <a:endParaRPr lang="en-US" sz="1400" dirty="0"/>
          </a:p>
        </p:txBody>
      </p:sp>
      <p:sp>
        <p:nvSpPr>
          <p:cNvPr id="21" name="Shape 19"/>
          <p:cNvSpPr/>
          <p:nvPr/>
        </p:nvSpPr>
        <p:spPr>
          <a:xfrm>
            <a:off x="548640" y="5641848"/>
            <a:ext cx="10881360" cy="749808"/>
          </a:xfrm>
          <a:prstGeom prst="roundRect">
            <a:avLst>
              <a:gd name="adj" fmla="val 8537"/>
            </a:avLst>
          </a:prstGeom>
          <a:solidFill>
            <a:srgbClr val="FFFFFF"/>
          </a:solidFill>
          <a:ln/>
          <a:effectLst>
            <a:outerShdw blurRad="63500" dist="25400" dir="5400000" algn="bl" rotWithShape="0">
              <a:srgbClr val="1C2B4A">
                <a:alpha val="8000"/>
              </a:srgbClr>
            </a:outerShdw>
          </a:effectLst>
        </p:spPr>
      </p:sp>
      <p:sp>
        <p:nvSpPr>
          <p:cNvPr id="22" name="Shape 20"/>
          <p:cNvSpPr/>
          <p:nvPr/>
        </p:nvSpPr>
        <p:spPr>
          <a:xfrm>
            <a:off x="777240" y="5815584"/>
            <a:ext cx="402336" cy="402336"/>
          </a:xfrm>
          <a:prstGeom prst="ellipse">
            <a:avLst/>
          </a:prstGeom>
          <a:solidFill>
            <a:srgbClr val="00B8A9"/>
          </a:solidFill>
          <a:ln/>
        </p:spPr>
      </p:sp>
      <p:sp>
        <p:nvSpPr>
          <p:cNvPr id="23" name="Text 21"/>
          <p:cNvSpPr/>
          <p:nvPr/>
        </p:nvSpPr>
        <p:spPr>
          <a:xfrm>
            <a:off x="777240" y="581558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p:nvPr/>
        </p:nvSpPr>
        <p:spPr>
          <a:xfrm>
            <a:off x="1371600" y="5641848"/>
            <a:ext cx="9784080" cy="749808"/>
          </a:xfrm>
          <a:prstGeom prst="rect">
            <a:avLst/>
          </a:prstGeom>
          <a:noFill/>
          <a:ln/>
        </p:spPr>
        <p:txBody>
          <a:bodyPr wrap="square" lIns="0" tIns="0" rIns="0" bIns="0" rtlCol="0" anchor="ctr"/>
          <a:lstStyle/>
          <a:p>
            <a:pPr marL="0" indent="0">
              <a:buNone/>
            </a:pPr>
            <a:r>
              <a:rPr lang="en-US" sz="1400" dirty="0">
                <a:solidFill>
                  <a:srgbClr val="16213E"/>
                </a:solidFill>
                <a:latin typeface="Calibri" pitchFamily="34" charset="0"/>
                <a:ea typeface="Calibri" pitchFamily="34" charset="-122"/>
                <a:cs typeface="Calibri" pitchFamily="34" charset="-120"/>
              </a:rPr>
              <a:t>Different job roles have different salary ranges and hiring patterns.</a:t>
            </a:r>
            <a:endParaRPr lang="en-US" sz="1400" dirty="0"/>
          </a:p>
        </p:txBody>
      </p:sp>
      <p:sp>
        <p:nvSpPr>
          <p:cNvPr id="25" name="Text 23"/>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5B6B87"/>
                </a:solidFill>
                <a:latin typeface="Calibri" pitchFamily="34" charset="0"/>
                <a:ea typeface="Calibri" pitchFamily="34" charset="-122"/>
                <a:cs typeface="Calibri" pitchFamily="34" charset="-120"/>
              </a:rPr>
              <a:t>12</a:t>
            </a:r>
            <a:endParaRPr lang="en-US" sz="1000" dirty="0"/>
          </a:p>
        </p:txBody>
      </p:sp>
      <p:sp>
        <p:nvSpPr>
          <p:cNvPr id="26" name="Text 24"/>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A9B4C8"/>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144000" y="-1371600"/>
            <a:ext cx="4114800" cy="4114800"/>
          </a:xfrm>
          <a:prstGeom prst="ellipse">
            <a:avLst/>
          </a:prstGeom>
          <a:solidFill>
            <a:srgbClr val="14294B"/>
          </a:solidFill>
          <a:ln/>
        </p:spPr>
      </p:sp>
      <p:sp>
        <p:nvSpPr>
          <p:cNvPr id="3" name="Text 1"/>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78F83"/>
                </a:solidFill>
                <a:latin typeface="Calibri" pitchFamily="34" charset="0"/>
                <a:ea typeface="Calibri" pitchFamily="34" charset="-122"/>
                <a:cs typeface="Calibri" pitchFamily="34" charset="-120"/>
              </a:rPr>
              <a:t>13 — WRAP UP</a:t>
            </a:r>
            <a:endParaRPr lang="en-US" sz="1200" dirty="0"/>
          </a:p>
        </p:txBody>
      </p:sp>
      <p:sp>
        <p:nvSpPr>
          <p:cNvPr id="4" name="Text 2"/>
          <p:cNvSpPr/>
          <p:nvPr/>
        </p:nvSpPr>
        <p:spPr>
          <a:xfrm>
            <a:off x="548640" y="713232"/>
            <a:ext cx="8686800" cy="640080"/>
          </a:xfrm>
          <a:prstGeom prst="rect">
            <a:avLst/>
          </a:prstGeom>
          <a:noFill/>
          <a:ln/>
        </p:spPr>
        <p:txBody>
          <a:bodyPr wrap="square" lIns="0" tIns="0" rIns="0" bIns="0" rtlCol="0" anchor="ctr"/>
          <a:lstStyle/>
          <a:p>
            <a:pPr marL="0" indent="0">
              <a:buNone/>
            </a:pPr>
            <a:r>
              <a:rPr lang="en-US" sz="3200" b="1" dirty="0">
                <a:solidFill>
                  <a:srgbClr val="16213E"/>
                </a:solidFill>
                <a:latin typeface="Cambria" pitchFamily="34" charset="0"/>
                <a:ea typeface="Cambria" pitchFamily="34" charset="-122"/>
                <a:cs typeface="Cambria" pitchFamily="34" charset="-120"/>
              </a:rPr>
              <a:t>Conclusion</a:t>
            </a:r>
            <a:endParaRPr lang="en-US" sz="3200" dirty="0"/>
          </a:p>
        </p:txBody>
      </p:sp>
      <p:sp>
        <p:nvSpPr>
          <p:cNvPr id="5" name="Text 3"/>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0B8A9"/>
                </a:solidFill>
                <a:latin typeface="Calibri" pitchFamily="34" charset="0"/>
                <a:ea typeface="Calibri" pitchFamily="34" charset="-122"/>
                <a:cs typeface="Calibri" pitchFamily="34" charset="-120"/>
              </a:rPr>
              <a:t>13 — WRAP UP</a:t>
            </a:r>
            <a:endParaRPr lang="en-US" sz="1200" dirty="0"/>
          </a:p>
        </p:txBody>
      </p:sp>
      <p:sp>
        <p:nvSpPr>
          <p:cNvPr id="6" name="Text 4"/>
          <p:cNvSpPr/>
          <p:nvPr/>
        </p:nvSpPr>
        <p:spPr>
          <a:xfrm>
            <a:off x="548640" y="713232"/>
            <a:ext cx="86868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7" name="Text 5"/>
          <p:cNvSpPr/>
          <p:nvPr/>
        </p:nvSpPr>
        <p:spPr>
          <a:xfrm>
            <a:off x="548640" y="1508760"/>
            <a:ext cx="10881360" cy="777240"/>
          </a:xfrm>
          <a:prstGeom prst="rect">
            <a:avLst/>
          </a:prstGeom>
          <a:noFill/>
          <a:ln/>
        </p:spPr>
        <p:txBody>
          <a:bodyPr wrap="square" lIns="0" tIns="0" rIns="0" bIns="0" rtlCol="0" anchor="ctr"/>
          <a:lstStyle/>
          <a:p>
            <a:pPr marL="0" indent="0">
              <a:lnSpc>
                <a:spcPct val="130000"/>
              </a:lnSpc>
              <a:buNone/>
            </a:pPr>
            <a:r>
              <a:rPr lang="en-US" sz="1300" dirty="0">
                <a:solidFill>
                  <a:srgbClr val="C4D0E6"/>
                </a:solidFill>
                <a:latin typeface="Calibri" pitchFamily="34" charset="0"/>
                <a:ea typeface="Calibri" pitchFamily="34" charset="-122"/>
                <a:cs typeface="Calibri" pitchFamily="34" charset="-120"/>
              </a:rPr>
              <a:t>The AI job market is large and dynamic. Our analysis highlights where demand is strongest, which roles and skills are most valuable, and how pay scales with experience. These insights inform three actionable recommendations:</a:t>
            </a:r>
            <a:endParaRPr lang="en-US" sz="1300" dirty="0"/>
          </a:p>
        </p:txBody>
      </p:sp>
      <p:sp>
        <p:nvSpPr>
          <p:cNvPr id="8" name="Shape 6"/>
          <p:cNvSpPr/>
          <p:nvPr/>
        </p:nvSpPr>
        <p:spPr>
          <a:xfrm>
            <a:off x="548640" y="2514600"/>
            <a:ext cx="347472" cy="347472"/>
          </a:xfrm>
          <a:prstGeom prst="ellipse">
            <a:avLst/>
          </a:prstGeom>
          <a:solidFill>
            <a:srgbClr val="00B8A9"/>
          </a:solidFill>
          <a:ln/>
        </p:spPr>
      </p:sp>
      <p:sp>
        <p:nvSpPr>
          <p:cNvPr id="9" name="Text 7"/>
          <p:cNvSpPr/>
          <p:nvPr/>
        </p:nvSpPr>
        <p:spPr>
          <a:xfrm>
            <a:off x="548640" y="25146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051560" y="2468880"/>
            <a:ext cx="10332720" cy="457200"/>
          </a:xfrm>
          <a:prstGeom prst="rect">
            <a:avLst/>
          </a:prstGeom>
          <a:noFill/>
          <a:ln/>
        </p:spPr>
        <p:txBody>
          <a:bodyPr wrap="square" lIns="0" tIns="0" rIns="0" bIns="0"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Successfully analyzed the AI job market dataset using Python.</a:t>
            </a:r>
            <a:endParaRPr lang="en-US" sz="1300" dirty="0"/>
          </a:p>
        </p:txBody>
      </p:sp>
      <p:sp>
        <p:nvSpPr>
          <p:cNvPr id="11" name="Shape 9"/>
          <p:cNvSpPr/>
          <p:nvPr/>
        </p:nvSpPr>
        <p:spPr>
          <a:xfrm>
            <a:off x="548640" y="3081528"/>
            <a:ext cx="347472" cy="347472"/>
          </a:xfrm>
          <a:prstGeom prst="ellipse">
            <a:avLst/>
          </a:prstGeom>
          <a:solidFill>
            <a:srgbClr val="00B8A9"/>
          </a:solidFill>
          <a:ln/>
        </p:spPr>
      </p:sp>
      <p:sp>
        <p:nvSpPr>
          <p:cNvPr id="12" name="Text 10"/>
          <p:cNvSpPr/>
          <p:nvPr/>
        </p:nvSpPr>
        <p:spPr>
          <a:xfrm>
            <a:off x="548640" y="308152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051560" y="3035808"/>
            <a:ext cx="10332720" cy="457200"/>
          </a:xfrm>
          <a:prstGeom prst="rect">
            <a:avLst/>
          </a:prstGeom>
          <a:noFill/>
          <a:ln/>
        </p:spPr>
        <p:txBody>
          <a:bodyPr wrap="square" lIns="0" tIns="0" rIns="0" bIns="0"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Cleaned and processed the data for accurate analysis.</a:t>
            </a:r>
            <a:endParaRPr lang="en-US" sz="1300" dirty="0"/>
          </a:p>
        </p:txBody>
      </p:sp>
      <p:sp>
        <p:nvSpPr>
          <p:cNvPr id="14" name="Shape 12"/>
          <p:cNvSpPr/>
          <p:nvPr/>
        </p:nvSpPr>
        <p:spPr>
          <a:xfrm>
            <a:off x="548640" y="3648456"/>
            <a:ext cx="347472" cy="347472"/>
          </a:xfrm>
          <a:prstGeom prst="ellipse">
            <a:avLst/>
          </a:prstGeom>
          <a:solidFill>
            <a:srgbClr val="00B8A9"/>
          </a:solidFill>
          <a:ln/>
        </p:spPr>
      </p:sp>
      <p:sp>
        <p:nvSpPr>
          <p:cNvPr id="15" name="Text 13"/>
          <p:cNvSpPr/>
          <p:nvPr/>
        </p:nvSpPr>
        <p:spPr>
          <a:xfrm>
            <a:off x="548640" y="364845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051560" y="3602736"/>
            <a:ext cx="10332720" cy="457200"/>
          </a:xfrm>
          <a:prstGeom prst="rect">
            <a:avLst/>
          </a:prstGeom>
          <a:noFill/>
          <a:ln/>
        </p:spPr>
        <p:txBody>
          <a:bodyPr wrap="square" lIns="0" tIns="0" rIns="0" bIns="0"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Identified important trends in job roles, salaries, and experience levels.</a:t>
            </a:r>
            <a:endParaRPr lang="en-US" sz="1300" dirty="0"/>
          </a:p>
        </p:txBody>
      </p:sp>
      <p:sp>
        <p:nvSpPr>
          <p:cNvPr id="17" name="Shape 15"/>
          <p:cNvSpPr/>
          <p:nvPr/>
        </p:nvSpPr>
        <p:spPr>
          <a:xfrm>
            <a:off x="548640" y="4215384"/>
            <a:ext cx="347472" cy="347472"/>
          </a:xfrm>
          <a:prstGeom prst="ellipse">
            <a:avLst/>
          </a:prstGeom>
          <a:solidFill>
            <a:srgbClr val="00B8A9"/>
          </a:solidFill>
          <a:ln/>
        </p:spPr>
      </p:sp>
      <p:sp>
        <p:nvSpPr>
          <p:cNvPr id="18" name="Text 16"/>
          <p:cNvSpPr/>
          <p:nvPr/>
        </p:nvSpPr>
        <p:spPr>
          <a:xfrm>
            <a:off x="548640" y="421538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051560" y="4169664"/>
            <a:ext cx="10332720" cy="457200"/>
          </a:xfrm>
          <a:prstGeom prst="rect">
            <a:avLst/>
          </a:prstGeom>
          <a:noFill/>
          <a:ln/>
        </p:spPr>
        <p:txBody>
          <a:bodyPr wrap="square" lIns="0" tIns="0" rIns="0" bIns="0"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Used different visualizations to present the data in a simple and clear way.</a:t>
            </a:r>
            <a:endParaRPr lang="en-US" sz="1300" dirty="0"/>
          </a:p>
        </p:txBody>
      </p:sp>
      <p:sp>
        <p:nvSpPr>
          <p:cNvPr id="20" name="Shape 18"/>
          <p:cNvSpPr/>
          <p:nvPr/>
        </p:nvSpPr>
        <p:spPr>
          <a:xfrm>
            <a:off x="548640" y="4782312"/>
            <a:ext cx="347472" cy="347472"/>
          </a:xfrm>
          <a:prstGeom prst="ellipse">
            <a:avLst/>
          </a:prstGeom>
          <a:solidFill>
            <a:srgbClr val="00B8A9"/>
          </a:solidFill>
          <a:ln/>
        </p:spPr>
      </p:sp>
      <p:sp>
        <p:nvSpPr>
          <p:cNvPr id="21" name="Text 19"/>
          <p:cNvSpPr/>
          <p:nvPr/>
        </p:nvSpPr>
        <p:spPr>
          <a:xfrm>
            <a:off x="548640" y="478231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p:nvPr/>
        </p:nvSpPr>
        <p:spPr>
          <a:xfrm>
            <a:off x="1051560" y="4736592"/>
            <a:ext cx="10332720" cy="457200"/>
          </a:xfrm>
          <a:prstGeom prst="rect">
            <a:avLst/>
          </a:prstGeom>
          <a:noFill/>
          <a:ln/>
        </p:spPr>
        <p:txBody>
          <a:bodyPr wrap="square" lIns="0" tIns="0" rIns="0" bIns="0"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The project provides useful insights that can help students, job seekers, and recruiters understand the AI job market better.</a:t>
            </a:r>
            <a:endParaRPr lang="en-US" sz="1300" dirty="0"/>
          </a:p>
        </p:txBody>
      </p:sp>
      <p:sp>
        <p:nvSpPr>
          <p:cNvPr id="23" name="Text 21"/>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8FA3C4"/>
                </a:solidFill>
                <a:latin typeface="Calibri" pitchFamily="34" charset="0"/>
                <a:ea typeface="Calibri" pitchFamily="34" charset="-122"/>
                <a:cs typeface="Calibri" pitchFamily="34" charset="-120"/>
              </a:rPr>
              <a:t>13</a:t>
            </a:r>
            <a:endParaRPr lang="en-US" sz="1000" dirty="0"/>
          </a:p>
        </p:txBody>
      </p:sp>
      <p:sp>
        <p:nvSpPr>
          <p:cNvPr id="24" name="Text 22"/>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5E7196"/>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078F83"/>
                </a:solidFill>
                <a:latin typeface="Calibri" pitchFamily="34" charset="0"/>
                <a:ea typeface="Calibri" pitchFamily="34" charset="-122"/>
                <a:cs typeface="Calibri" pitchFamily="34" charset="-120"/>
              </a:rPr>
              <a:t>14 — WHAT'S NEXT</a:t>
            </a:r>
            <a:endParaRPr lang="en-US" sz="1200" dirty="0"/>
          </a:p>
        </p:txBody>
      </p:sp>
      <p:sp>
        <p:nvSpPr>
          <p:cNvPr id="3" name="Text 1"/>
          <p:cNvSpPr/>
          <p:nvPr/>
        </p:nvSpPr>
        <p:spPr>
          <a:xfrm>
            <a:off x="548640" y="713232"/>
            <a:ext cx="8686800" cy="640080"/>
          </a:xfrm>
          <a:prstGeom prst="rect">
            <a:avLst/>
          </a:prstGeom>
          <a:noFill/>
          <a:ln/>
        </p:spPr>
        <p:txBody>
          <a:bodyPr wrap="square" lIns="0" tIns="0" rIns="0" bIns="0" rtlCol="0" anchor="ctr"/>
          <a:lstStyle/>
          <a:p>
            <a:pPr marL="0" indent="0">
              <a:buNone/>
            </a:pPr>
            <a:r>
              <a:rPr lang="en-US" sz="3000" b="1" dirty="0">
                <a:solidFill>
                  <a:srgbClr val="16213E"/>
                </a:solidFill>
                <a:latin typeface="Cambria" pitchFamily="34" charset="0"/>
                <a:ea typeface="Cambria" pitchFamily="34" charset="-122"/>
                <a:cs typeface="Cambria" pitchFamily="34" charset="-120"/>
              </a:rPr>
              <a:t>Future Plans</a:t>
            </a:r>
            <a:endParaRPr lang="en-US" sz="3000" dirty="0"/>
          </a:p>
        </p:txBody>
      </p:sp>
      <p:sp>
        <p:nvSpPr>
          <p:cNvPr id="4" name="Shape 2"/>
          <p:cNvSpPr/>
          <p:nvPr/>
        </p:nvSpPr>
        <p:spPr>
          <a:xfrm>
            <a:off x="548640" y="1645920"/>
            <a:ext cx="3429000" cy="1965960"/>
          </a:xfrm>
          <a:prstGeom prst="roundRect">
            <a:avLst>
              <a:gd name="adj" fmla="val 3721"/>
            </a:avLst>
          </a:prstGeom>
          <a:solidFill>
            <a:srgbClr val="FFFFFF"/>
          </a:solidFill>
          <a:ln/>
          <a:effectLst>
            <a:outerShdw blurRad="76200" dist="25400" dir="5400000" algn="bl" rotWithShape="0">
              <a:srgbClr val="1C2B4A">
                <a:alpha val="10000"/>
              </a:srgbClr>
            </a:outerShdw>
          </a:effectLst>
        </p:spPr>
      </p:sp>
      <p:sp>
        <p:nvSpPr>
          <p:cNvPr id="5" name="Shape 3"/>
          <p:cNvSpPr/>
          <p:nvPr/>
        </p:nvSpPr>
        <p:spPr>
          <a:xfrm>
            <a:off x="777240" y="1874520"/>
            <a:ext cx="365760" cy="365760"/>
          </a:xfrm>
          <a:prstGeom prst="ellipse">
            <a:avLst/>
          </a:prstGeom>
          <a:solidFill>
            <a:srgbClr val="00B8A9"/>
          </a:solidFill>
          <a:ln/>
        </p:spPr>
      </p:sp>
      <p:sp>
        <p:nvSpPr>
          <p:cNvPr id="6" name="Text 4"/>
          <p:cNvSpPr/>
          <p:nvPr/>
        </p:nvSpPr>
        <p:spPr>
          <a:xfrm>
            <a:off x="777240" y="18745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777240" y="2377440"/>
            <a:ext cx="2971800" cy="1143000"/>
          </a:xfrm>
          <a:prstGeom prst="rect">
            <a:avLst/>
          </a:prstGeom>
          <a:noFill/>
          <a:ln/>
        </p:spPr>
        <p:txBody>
          <a:bodyPr wrap="square" lIns="0" tIns="0" rIns="0" bIns="0" rtlCol="0" anchor="ctr"/>
          <a:lstStyle/>
          <a:p>
            <a:pPr marL="0" indent="0">
              <a:lnSpc>
                <a:spcPct val="125000"/>
              </a:lnSpc>
              <a:buNone/>
            </a:pPr>
            <a:r>
              <a:rPr lang="en-US" sz="1150" dirty="0">
                <a:solidFill>
                  <a:srgbClr val="16213E"/>
                </a:solidFill>
                <a:latin typeface="Calibri" pitchFamily="34" charset="0"/>
                <a:ea typeface="Calibri" pitchFamily="34" charset="-122"/>
                <a:cs typeface="Calibri" pitchFamily="34" charset="-120"/>
              </a:rPr>
              <a:t>Add real-time job data so the dashboard always shows the latest AI job market trends and opportunities.</a:t>
            </a:r>
            <a:endParaRPr lang="en-US" sz="1150" dirty="0"/>
          </a:p>
        </p:txBody>
      </p:sp>
      <p:sp>
        <p:nvSpPr>
          <p:cNvPr id="8" name="Shape 6"/>
          <p:cNvSpPr/>
          <p:nvPr/>
        </p:nvSpPr>
        <p:spPr>
          <a:xfrm>
            <a:off x="4160520" y="1645920"/>
            <a:ext cx="3429000" cy="1965960"/>
          </a:xfrm>
          <a:prstGeom prst="roundRect">
            <a:avLst>
              <a:gd name="adj" fmla="val 3721"/>
            </a:avLst>
          </a:prstGeom>
          <a:solidFill>
            <a:srgbClr val="FFFFFF"/>
          </a:solidFill>
          <a:ln/>
          <a:effectLst>
            <a:outerShdw blurRad="76200" dist="25400" dir="5400000" algn="bl" rotWithShape="0">
              <a:srgbClr val="1C2B4A">
                <a:alpha val="10000"/>
              </a:srgbClr>
            </a:outerShdw>
          </a:effectLst>
        </p:spPr>
      </p:sp>
      <p:sp>
        <p:nvSpPr>
          <p:cNvPr id="9" name="Shape 7"/>
          <p:cNvSpPr/>
          <p:nvPr/>
        </p:nvSpPr>
        <p:spPr>
          <a:xfrm>
            <a:off x="4389120" y="1874520"/>
            <a:ext cx="365760" cy="365760"/>
          </a:xfrm>
          <a:prstGeom prst="ellipse">
            <a:avLst/>
          </a:prstGeom>
          <a:solidFill>
            <a:srgbClr val="00B8A9"/>
          </a:solidFill>
          <a:ln/>
        </p:spPr>
      </p:sp>
      <p:sp>
        <p:nvSpPr>
          <p:cNvPr id="10" name="Text 8"/>
          <p:cNvSpPr/>
          <p:nvPr/>
        </p:nvSpPr>
        <p:spPr>
          <a:xfrm>
            <a:off x="4389120" y="18745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389120" y="2377440"/>
            <a:ext cx="2971800" cy="1143000"/>
          </a:xfrm>
          <a:prstGeom prst="rect">
            <a:avLst/>
          </a:prstGeom>
          <a:noFill/>
          <a:ln/>
        </p:spPr>
        <p:txBody>
          <a:bodyPr wrap="square" lIns="0" tIns="0" rIns="0" bIns="0" rtlCol="0" anchor="ctr"/>
          <a:lstStyle/>
          <a:p>
            <a:pPr marL="0" indent="0">
              <a:lnSpc>
                <a:spcPct val="125000"/>
              </a:lnSpc>
              <a:buNone/>
            </a:pPr>
            <a:r>
              <a:rPr lang="en-US" sz="1150" dirty="0">
                <a:solidFill>
                  <a:srgbClr val="16213E"/>
                </a:solidFill>
                <a:latin typeface="Calibri" pitchFamily="34" charset="0"/>
                <a:ea typeface="Calibri" pitchFamily="34" charset="-122"/>
                <a:cs typeface="Calibri" pitchFamily="34" charset="-120"/>
              </a:rPr>
              <a:t>Introduce career recommendations that suggest suitable AI job roles and skills based on a user's profile.</a:t>
            </a:r>
            <a:endParaRPr lang="en-US" sz="1150" dirty="0"/>
          </a:p>
        </p:txBody>
      </p:sp>
      <p:sp>
        <p:nvSpPr>
          <p:cNvPr id="12" name="Shape 10"/>
          <p:cNvSpPr/>
          <p:nvPr/>
        </p:nvSpPr>
        <p:spPr>
          <a:xfrm>
            <a:off x="7772400" y="1645920"/>
            <a:ext cx="3429000" cy="1965960"/>
          </a:xfrm>
          <a:prstGeom prst="roundRect">
            <a:avLst>
              <a:gd name="adj" fmla="val 3721"/>
            </a:avLst>
          </a:prstGeom>
          <a:solidFill>
            <a:srgbClr val="FFFFFF"/>
          </a:solidFill>
          <a:ln/>
          <a:effectLst>
            <a:outerShdw blurRad="76200" dist="25400" dir="5400000" algn="bl" rotWithShape="0">
              <a:srgbClr val="1C2B4A">
                <a:alpha val="10000"/>
              </a:srgbClr>
            </a:outerShdw>
          </a:effectLst>
        </p:spPr>
      </p:sp>
      <p:sp>
        <p:nvSpPr>
          <p:cNvPr id="13" name="Shape 11"/>
          <p:cNvSpPr/>
          <p:nvPr/>
        </p:nvSpPr>
        <p:spPr>
          <a:xfrm>
            <a:off x="8001000" y="1874520"/>
            <a:ext cx="365760" cy="365760"/>
          </a:xfrm>
          <a:prstGeom prst="ellipse">
            <a:avLst/>
          </a:prstGeom>
          <a:solidFill>
            <a:srgbClr val="00B8A9"/>
          </a:solidFill>
          <a:ln/>
        </p:spPr>
      </p:sp>
      <p:sp>
        <p:nvSpPr>
          <p:cNvPr id="14" name="Text 12"/>
          <p:cNvSpPr/>
          <p:nvPr/>
        </p:nvSpPr>
        <p:spPr>
          <a:xfrm>
            <a:off x="8001000" y="187452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8001000" y="2377440"/>
            <a:ext cx="2971800" cy="1143000"/>
          </a:xfrm>
          <a:prstGeom prst="rect">
            <a:avLst/>
          </a:prstGeom>
          <a:noFill/>
          <a:ln/>
        </p:spPr>
        <p:txBody>
          <a:bodyPr wrap="square" lIns="0" tIns="0" rIns="0" bIns="0" rtlCol="0" anchor="ctr"/>
          <a:lstStyle/>
          <a:p>
            <a:pPr marL="0" indent="0">
              <a:lnSpc>
                <a:spcPct val="125000"/>
              </a:lnSpc>
              <a:buNone/>
            </a:pPr>
            <a:r>
              <a:rPr lang="en-US" sz="1150" dirty="0">
                <a:solidFill>
                  <a:srgbClr val="16213E"/>
                </a:solidFill>
                <a:latin typeface="Calibri" pitchFamily="34" charset="0"/>
                <a:ea typeface="Calibri" pitchFamily="34" charset="-122"/>
                <a:cs typeface="Calibri" pitchFamily="34" charset="-120"/>
              </a:rPr>
              <a:t>Use AI to predict future trends, such as in-demand skills, salary growth, and hiring patterns.</a:t>
            </a:r>
            <a:endParaRPr lang="en-US" sz="1150" dirty="0"/>
          </a:p>
        </p:txBody>
      </p:sp>
      <p:sp>
        <p:nvSpPr>
          <p:cNvPr id="16" name="Shape 14"/>
          <p:cNvSpPr/>
          <p:nvPr/>
        </p:nvSpPr>
        <p:spPr>
          <a:xfrm>
            <a:off x="548640" y="3794760"/>
            <a:ext cx="3429000" cy="1965960"/>
          </a:xfrm>
          <a:prstGeom prst="roundRect">
            <a:avLst>
              <a:gd name="adj" fmla="val 3721"/>
            </a:avLst>
          </a:prstGeom>
          <a:solidFill>
            <a:srgbClr val="FFFFFF"/>
          </a:solidFill>
          <a:ln/>
          <a:effectLst>
            <a:outerShdw blurRad="76200" dist="25400" dir="5400000" algn="bl" rotWithShape="0">
              <a:srgbClr val="1C2B4A">
                <a:alpha val="10000"/>
              </a:srgbClr>
            </a:outerShdw>
          </a:effectLst>
        </p:spPr>
      </p:sp>
      <p:sp>
        <p:nvSpPr>
          <p:cNvPr id="17" name="Shape 15"/>
          <p:cNvSpPr/>
          <p:nvPr/>
        </p:nvSpPr>
        <p:spPr>
          <a:xfrm>
            <a:off x="777240" y="4023360"/>
            <a:ext cx="365760" cy="365760"/>
          </a:xfrm>
          <a:prstGeom prst="ellipse">
            <a:avLst/>
          </a:prstGeom>
          <a:solidFill>
            <a:srgbClr val="00B8A9"/>
          </a:solidFill>
          <a:ln/>
        </p:spPr>
      </p:sp>
      <p:sp>
        <p:nvSpPr>
          <p:cNvPr id="18" name="Text 16"/>
          <p:cNvSpPr/>
          <p:nvPr/>
        </p:nvSpPr>
        <p:spPr>
          <a:xfrm>
            <a:off x="777240" y="40233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777240" y="4526280"/>
            <a:ext cx="2971800" cy="1143000"/>
          </a:xfrm>
          <a:prstGeom prst="rect">
            <a:avLst/>
          </a:prstGeom>
          <a:noFill/>
          <a:ln/>
        </p:spPr>
        <p:txBody>
          <a:bodyPr wrap="square" lIns="0" tIns="0" rIns="0" bIns="0" rtlCol="0" anchor="ctr"/>
          <a:lstStyle/>
          <a:p>
            <a:pPr marL="0" indent="0">
              <a:lnSpc>
                <a:spcPct val="125000"/>
              </a:lnSpc>
              <a:buNone/>
            </a:pPr>
            <a:r>
              <a:rPr lang="en-US" sz="1150" dirty="0">
                <a:solidFill>
                  <a:srgbClr val="16213E"/>
                </a:solidFill>
                <a:latin typeface="Calibri" pitchFamily="34" charset="0"/>
                <a:ea typeface="Calibri" pitchFamily="34" charset="-122"/>
                <a:cs typeface="Calibri" pitchFamily="34" charset="-120"/>
              </a:rPr>
              <a:t>Improve the dashboard interface by adding more interactive charts, filters, and downloadable reports.</a:t>
            </a:r>
            <a:endParaRPr lang="en-US" sz="1150" dirty="0"/>
          </a:p>
        </p:txBody>
      </p:sp>
      <p:sp>
        <p:nvSpPr>
          <p:cNvPr id="20" name="Shape 18"/>
          <p:cNvSpPr/>
          <p:nvPr/>
        </p:nvSpPr>
        <p:spPr>
          <a:xfrm>
            <a:off x="4160520" y="3794760"/>
            <a:ext cx="3429000" cy="1965960"/>
          </a:xfrm>
          <a:prstGeom prst="roundRect">
            <a:avLst>
              <a:gd name="adj" fmla="val 3721"/>
            </a:avLst>
          </a:prstGeom>
          <a:solidFill>
            <a:srgbClr val="FFFFFF"/>
          </a:solidFill>
          <a:ln/>
          <a:effectLst>
            <a:outerShdw blurRad="76200" dist="25400" dir="5400000" algn="bl" rotWithShape="0">
              <a:srgbClr val="1C2B4A">
                <a:alpha val="10000"/>
              </a:srgbClr>
            </a:outerShdw>
          </a:effectLst>
        </p:spPr>
      </p:sp>
      <p:sp>
        <p:nvSpPr>
          <p:cNvPr id="21" name="Shape 19"/>
          <p:cNvSpPr/>
          <p:nvPr/>
        </p:nvSpPr>
        <p:spPr>
          <a:xfrm>
            <a:off x="4389120" y="4023360"/>
            <a:ext cx="365760" cy="365760"/>
          </a:xfrm>
          <a:prstGeom prst="ellipse">
            <a:avLst/>
          </a:prstGeom>
          <a:solidFill>
            <a:srgbClr val="00B8A9"/>
          </a:solidFill>
          <a:ln/>
        </p:spPr>
      </p:sp>
      <p:sp>
        <p:nvSpPr>
          <p:cNvPr id="22" name="Text 20"/>
          <p:cNvSpPr/>
          <p:nvPr/>
        </p:nvSpPr>
        <p:spPr>
          <a:xfrm>
            <a:off x="4389120" y="40233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4389120" y="4526280"/>
            <a:ext cx="2971800" cy="1143000"/>
          </a:xfrm>
          <a:prstGeom prst="rect">
            <a:avLst/>
          </a:prstGeom>
          <a:noFill/>
          <a:ln/>
        </p:spPr>
        <p:txBody>
          <a:bodyPr wrap="square" lIns="0" tIns="0" rIns="0" bIns="0" rtlCol="0" anchor="ctr"/>
          <a:lstStyle/>
          <a:p>
            <a:pPr marL="0" indent="0">
              <a:lnSpc>
                <a:spcPct val="125000"/>
              </a:lnSpc>
              <a:buNone/>
            </a:pPr>
            <a:r>
              <a:rPr lang="en-US" sz="1150" dirty="0">
                <a:solidFill>
                  <a:srgbClr val="16213E"/>
                </a:solidFill>
                <a:latin typeface="Calibri" pitchFamily="34" charset="0"/>
                <a:ea typeface="Calibri" pitchFamily="34" charset="-122"/>
                <a:cs typeface="Calibri" pitchFamily="34" charset="-120"/>
              </a:rPr>
              <a:t>Make the dashboard available online so users can access it anytime from any device.</a:t>
            </a:r>
            <a:endParaRPr lang="en-US" sz="1150" dirty="0"/>
          </a:p>
        </p:txBody>
      </p:sp>
      <p:sp>
        <p:nvSpPr>
          <p:cNvPr id="24" name="Text 22"/>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5B6B87"/>
                </a:solidFill>
                <a:latin typeface="Calibri" pitchFamily="34" charset="0"/>
                <a:ea typeface="Calibri" pitchFamily="34" charset="-122"/>
                <a:cs typeface="Calibri" pitchFamily="34" charset="-120"/>
              </a:rPr>
              <a:t>14</a:t>
            </a:r>
            <a:endParaRPr lang="en-US" sz="1000" dirty="0"/>
          </a:p>
        </p:txBody>
      </p:sp>
      <p:sp>
        <p:nvSpPr>
          <p:cNvPr id="25" name="Text 23"/>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A9B4C8"/>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2286000" y="-1828800"/>
            <a:ext cx="5486400" cy="5486400"/>
          </a:xfrm>
          <a:prstGeom prst="ellipse">
            <a:avLst/>
          </a:prstGeom>
          <a:solidFill>
            <a:srgbClr val="14294B"/>
          </a:solidFill>
          <a:ln/>
        </p:spPr>
      </p:sp>
      <p:sp>
        <p:nvSpPr>
          <p:cNvPr id="3" name="Shape 1"/>
          <p:cNvSpPr/>
          <p:nvPr/>
        </p:nvSpPr>
        <p:spPr>
          <a:xfrm>
            <a:off x="8686800" y="3200400"/>
            <a:ext cx="5486400" cy="5486400"/>
          </a:xfrm>
          <a:prstGeom prst="ellipse">
            <a:avLst/>
          </a:prstGeom>
          <a:solidFill>
            <a:srgbClr val="14294B"/>
          </a:solidFill>
          <a:ln/>
        </p:spPr>
      </p:sp>
      <p:sp>
        <p:nvSpPr>
          <p:cNvPr id="4" name="Shape 2"/>
          <p:cNvSpPr/>
          <p:nvPr/>
        </p:nvSpPr>
        <p:spPr>
          <a:xfrm>
            <a:off x="9601200" y="4114800"/>
            <a:ext cx="2743200" cy="2743200"/>
          </a:xfrm>
          <a:prstGeom prst="ellipse">
            <a:avLst/>
          </a:prstGeom>
          <a:solidFill>
            <a:srgbClr val="00B8A9"/>
          </a:solidFill>
          <a:ln/>
        </p:spPr>
      </p:sp>
      <p:sp>
        <p:nvSpPr>
          <p:cNvPr id="5" name="Text 3"/>
          <p:cNvSpPr/>
          <p:nvPr/>
        </p:nvSpPr>
        <p:spPr>
          <a:xfrm>
            <a:off x="0" y="2286000"/>
            <a:ext cx="12191695" cy="1005840"/>
          </a:xfrm>
          <a:prstGeom prst="rect">
            <a:avLst/>
          </a:prstGeom>
          <a:noFill/>
          <a:ln/>
        </p:spPr>
        <p:txBody>
          <a:bodyPr wrap="square" lIns="0" tIns="0" rIns="0" bIns="0"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THANKYOU</a:t>
            </a:r>
            <a:endParaRPr lang="en-US" sz="4800" dirty="0"/>
          </a:p>
        </p:txBody>
      </p:sp>
      <p:sp>
        <p:nvSpPr>
          <p:cNvPr id="6" name="Text 4"/>
          <p:cNvSpPr/>
          <p:nvPr/>
        </p:nvSpPr>
        <p:spPr>
          <a:xfrm>
            <a:off x="0" y="3246120"/>
            <a:ext cx="12191695" cy="457200"/>
          </a:xfrm>
          <a:prstGeom prst="rect">
            <a:avLst/>
          </a:prstGeom>
          <a:noFill/>
          <a:ln/>
        </p:spPr>
        <p:txBody>
          <a:bodyPr wrap="square" lIns="0" tIns="0" rIns="0" bIns="0" rtlCol="0" anchor="ctr"/>
          <a:lstStyle/>
          <a:p>
            <a:pPr marL="0" indent="0" algn="ctr">
              <a:buNone/>
            </a:pPr>
            <a:r>
              <a:rPr lang="en-US" sz="1500" kern="0" spc="200" dirty="0">
                <a:solidFill>
                  <a:srgbClr val="00B8A9"/>
                </a:solidFill>
                <a:latin typeface="Calibri" pitchFamily="34" charset="0"/>
                <a:ea typeface="Calibri" pitchFamily="34" charset="-122"/>
                <a:cs typeface="Calibri" pitchFamily="34" charset="-120"/>
              </a:rPr>
              <a:t>AI JOB MARKET ANALYTIC DASHBOARD</a:t>
            </a:r>
            <a:endParaRPr lang="en-US" sz="1500" dirty="0"/>
          </a:p>
        </p:txBody>
      </p:sp>
      <p:sp>
        <p:nvSpPr>
          <p:cNvPr id="7" name="Text 5"/>
          <p:cNvSpPr/>
          <p:nvPr/>
        </p:nvSpPr>
        <p:spPr>
          <a:xfrm>
            <a:off x="0" y="3931920"/>
            <a:ext cx="12191695" cy="365760"/>
          </a:xfrm>
          <a:prstGeom prst="rect">
            <a:avLst/>
          </a:prstGeom>
          <a:noFill/>
          <a:ln/>
        </p:spPr>
        <p:txBody>
          <a:bodyPr wrap="square" lIns="0" tIns="0" rIns="0" bIns="0" rtlCol="0" anchor="ctr"/>
          <a:lstStyle/>
          <a:p>
            <a:pPr marL="0" indent="0" algn="ctr">
              <a:buNone/>
            </a:pPr>
            <a:r>
              <a:rPr lang="en-US" sz="1200" kern="0" spc="100" dirty="0">
                <a:solidFill>
                  <a:srgbClr val="8FA3C4"/>
                </a:solidFill>
                <a:latin typeface="Calibri" pitchFamily="34" charset="0"/>
                <a:ea typeface="Calibri" pitchFamily="34" charset="-122"/>
                <a:cs typeface="Calibri" pitchFamily="34" charset="-120"/>
              </a:rPr>
              <a:t>FEEDBACK AND QUESTIONS ARE WELCOME</a:t>
            </a:r>
            <a:endParaRPr lang="en-US" sz="1200" dirty="0"/>
          </a:p>
        </p:txBody>
      </p:sp>
      <p:sp>
        <p:nvSpPr>
          <p:cNvPr id="8" name="Text 6"/>
          <p:cNvSpPr/>
          <p:nvPr/>
        </p:nvSpPr>
        <p:spPr>
          <a:xfrm>
            <a:off x="11247120" y="6473952"/>
            <a:ext cx="640080" cy="292608"/>
          </a:xfrm>
          <a:prstGeom prst="rect">
            <a:avLst/>
          </a:prstGeom>
          <a:noFill/>
          <a:ln/>
        </p:spPr>
        <p:txBody>
          <a:bodyPr wrap="square" lIns="0" tIns="0" rIns="0" bIns="0" rtlCol="0" anchor="ctr"/>
          <a:lstStyle/>
          <a:p>
            <a:pPr marL="0" indent="0" algn="r">
              <a:buNone/>
            </a:pPr>
            <a:r>
              <a:rPr lang="en-US" sz="1000" dirty="0">
                <a:solidFill>
                  <a:srgbClr val="8FA3C4"/>
                </a:solidFill>
                <a:latin typeface="Calibri" pitchFamily="34" charset="0"/>
                <a:ea typeface="Calibri" pitchFamily="34" charset="-122"/>
                <a:cs typeface="Calibri" pitchFamily="34" charset="-120"/>
              </a:rPr>
              <a:t>15</a:t>
            </a:r>
            <a:endParaRPr lang="en-US" sz="1000" dirty="0"/>
          </a:p>
        </p:txBody>
      </p:sp>
      <p:sp>
        <p:nvSpPr>
          <p:cNvPr id="9" name="Text 7"/>
          <p:cNvSpPr/>
          <p:nvPr/>
        </p:nvSpPr>
        <p:spPr>
          <a:xfrm>
            <a:off x="548640" y="6473952"/>
            <a:ext cx="4572000" cy="292608"/>
          </a:xfrm>
          <a:prstGeom prst="rect">
            <a:avLst/>
          </a:prstGeom>
          <a:noFill/>
          <a:ln/>
        </p:spPr>
        <p:txBody>
          <a:bodyPr wrap="square" lIns="0" tIns="0" rIns="0" bIns="0" rtlCol="0" anchor="ctr"/>
          <a:lstStyle/>
          <a:p>
            <a:pPr marL="0" indent="0" algn="l">
              <a:buNone/>
            </a:pPr>
            <a:r>
              <a:rPr lang="en-US" sz="800" kern="0" spc="200" dirty="0">
                <a:solidFill>
                  <a:srgbClr val="5E7196"/>
                </a:solidFill>
                <a:latin typeface="Calibri" pitchFamily="34" charset="0"/>
                <a:ea typeface="Calibri" pitchFamily="34" charset="-122"/>
                <a:cs typeface="Calibri" pitchFamily="34" charset="-120"/>
              </a:rPr>
              <a:t>AI JOB MARKET ANALYSIS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1321</Words>
  <Application>Microsoft Office PowerPoint</Application>
  <PresentationFormat>Widescreen</PresentationFormat>
  <Paragraphs>234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Manjinder Singh</cp:lastModifiedBy>
  <cp:revision>2</cp:revision>
  <dcterms:created xsi:type="dcterms:W3CDTF">2026-07-13T08:25:23Z</dcterms:created>
  <dcterms:modified xsi:type="dcterms:W3CDTF">2026-07-13T08:30:26Z</dcterms:modified>
</cp:coreProperties>
</file>